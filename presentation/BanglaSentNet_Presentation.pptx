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9" r:id="rId2"/>
    <p:sldId id="271" r:id="rId3"/>
    <p:sldId id="270" r:id="rId4"/>
    <p:sldId id="269" r:id="rId5"/>
    <p:sldId id="265" r:id="rId6"/>
    <p:sldId id="272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9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73" r:id="rId23"/>
    <p:sldId id="28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B366"/>
    <a:srgbClr val="8D4294"/>
    <a:srgbClr val="DA2B33"/>
    <a:srgbClr val="67B42B"/>
    <a:srgbClr val="004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1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E1288-B8FC-42A6-8A26-98D40BD10A74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845BA-DF97-434D-A916-9CB5391069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3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845BA-DF97-434D-A916-9CB5391069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E845BA-DF97-434D-A916-9CB5391069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05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F201-2382-5C5D-EB4F-28E149864C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224055"/>
            <a:ext cx="9144000" cy="1097807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Paper 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44977-8C06-0652-7A21-FB6E250227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495694"/>
            <a:ext cx="9144000" cy="81372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8D429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Author Names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1459D4-84CA-B82C-482F-AFBAF255CB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2" t="14377" r="12289" b="12330"/>
          <a:stretch>
            <a:fillRect/>
          </a:stretch>
        </p:blipFill>
        <p:spPr>
          <a:xfrm>
            <a:off x="5671122" y="372331"/>
            <a:ext cx="868805" cy="914400"/>
          </a:xfrm>
          <a:prstGeom prst="rect">
            <a:avLst/>
          </a:prstGeom>
        </p:spPr>
      </p:pic>
      <p:pic>
        <p:nvPicPr>
          <p:cNvPr id="1026" name="Picture 2" descr="Salford Business School | University of Salford">
            <a:extLst>
              <a:ext uri="{FF2B5EF4-FFF2-40B4-BE49-F238E27FC236}">
                <a16:creationId xmlns:a16="http://schemas.microsoft.com/office/drawing/2014/main" id="{B4EF7BE3-5069-9AD9-21C3-949D843AED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452" y="856617"/>
            <a:ext cx="1691195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16555B-4547-3010-BA5A-63DBA94DACB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4" t="16487" r="10241" b="20143"/>
          <a:stretch>
            <a:fillRect/>
          </a:stretch>
        </p:blipFill>
        <p:spPr>
          <a:xfrm>
            <a:off x="1950695" y="900884"/>
            <a:ext cx="1525205" cy="685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C93C89-0958-1B40-8A0A-D0FF162EE031}"/>
              </a:ext>
            </a:extLst>
          </p:cNvPr>
          <p:cNvSpPr txBox="1"/>
          <p:nvPr userDrawn="1"/>
        </p:nvSpPr>
        <p:spPr>
          <a:xfrm>
            <a:off x="1524000" y="1551885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004F9E"/>
                </a:solidFill>
              </a:rPr>
              <a:t>International Conference on Data Science, AI and Applications (ICDSAIA 2025)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7F13A95-5724-1442-26FD-D2FEFB414F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875" y="5417981"/>
            <a:ext cx="7324725" cy="452438"/>
          </a:xfrm>
        </p:spPr>
        <p:txBody>
          <a:bodyPr/>
          <a:lstStyle>
            <a:lvl2pPr marL="457200" indent="0" algn="ctr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en-US" dirty="0"/>
              <a:t>Organization of the Presenter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F39677D-1C63-C8BD-2D91-29138B7AB0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2785902"/>
            <a:ext cx="9144000" cy="34078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67B42B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Paper ID – NN, Session – SNRN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AD18C486-CF9D-F417-9711-560F19A110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2801" y="6368814"/>
            <a:ext cx="5505450" cy="282658"/>
          </a:xfrm>
        </p:spPr>
        <p:txBody>
          <a:bodyPr>
            <a:noAutofit/>
          </a:bodyPr>
          <a:lstStyle>
            <a:lvl2pPr marL="457200" indent="0" algn="ctr">
              <a:buFont typeface="Arial" panose="020B0604020202020204" pitchFamily="34" charset="0"/>
              <a:buNone/>
              <a:defRPr sz="1800" b="1">
                <a:solidFill>
                  <a:srgbClr val="FF0000"/>
                </a:solidFill>
              </a:defRPr>
            </a:lvl2pPr>
          </a:lstStyle>
          <a:p>
            <a:pPr lvl="1"/>
            <a:r>
              <a:rPr lang="en-US" dirty="0"/>
              <a:t>18 July 2025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A7352F-3AE3-E1E9-6EAE-5CE345705D2D}"/>
              </a:ext>
            </a:extLst>
          </p:cNvPr>
          <p:cNvSpPr txBox="1"/>
          <p:nvPr userDrawn="1"/>
        </p:nvSpPr>
        <p:spPr>
          <a:xfrm>
            <a:off x="3352800" y="5999482"/>
            <a:ext cx="5505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b="1" dirty="0"/>
              <a:t>EATL Innovation Hub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18B62-9E72-2CDB-7FC0-89974F2D962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811" y="1983479"/>
            <a:ext cx="548378" cy="457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116585-4679-37F0-F2A5-FCD89573B09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297" y="2479280"/>
            <a:ext cx="1579880" cy="151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648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FC6E-5128-A038-4638-E12F138A8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89E2-AC0C-B436-0F24-8A8C63CB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4919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6830-4F77-9DF1-3611-01F8F596D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455" y="6390149"/>
            <a:ext cx="260309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8DF3B-D971-562E-1D1E-9463121A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3264" y="6380726"/>
            <a:ext cx="158053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9F31392-AA0E-4A04-962A-5C75AB0CB4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1C0522-284D-A59A-6B49-C0DE2DF43B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6945" r="13333" b="15972"/>
          <a:stretch>
            <a:fillRect/>
          </a:stretch>
        </p:blipFill>
        <p:spPr>
          <a:xfrm>
            <a:off x="11651775" y="136525"/>
            <a:ext cx="454361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BA14B3-1634-6538-0B4D-3C54A2BD3C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90149"/>
            <a:ext cx="60960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98EEF6-4CC8-04AB-33A9-75A7BC2C362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992" y="6390149"/>
            <a:ext cx="676478" cy="274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AE0900-92C3-0C2F-8C7E-F1B526E3A1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526" y="250825"/>
            <a:ext cx="5080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76BC34-3F9E-76AA-4070-A6A51AFAAF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318" y="250825"/>
            <a:ext cx="563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29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1AA06-ED8D-5E2D-2692-40CD73B3D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23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38558-524E-8FD3-7D7A-AF4F93712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82663"/>
            <a:ext cx="5181600" cy="4794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917BF-2B6C-6713-B326-51B12D277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82663"/>
            <a:ext cx="5181600" cy="4794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259399D-6DC3-AADF-3114-B983DCED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455" y="6390149"/>
            <a:ext cx="260309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FEBE6D5-FAC4-EDDC-1149-55A4603C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3264" y="6380726"/>
            <a:ext cx="158053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9F31392-AA0E-4A04-962A-5C75AB0CB4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EBE0F9-003B-CF13-E9E1-4A23024E73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6945" r="13333" b="15972"/>
          <a:stretch>
            <a:fillRect/>
          </a:stretch>
        </p:blipFill>
        <p:spPr>
          <a:xfrm>
            <a:off x="11651775" y="136525"/>
            <a:ext cx="454361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4F5502-09FB-7D6C-EC70-181DE1E17B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90149"/>
            <a:ext cx="609600" cy="274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A19AC9-52C2-70AD-0F14-E24CF8F1D9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992" y="6390149"/>
            <a:ext cx="676478" cy="2743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90566E-6183-6B68-D4DD-A54E3E1FDDD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526" y="250825"/>
            <a:ext cx="5080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999749-110E-7AAB-F7E2-F7D12F8625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318" y="250825"/>
            <a:ext cx="563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60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60DE-F65E-56D3-EF37-E3B0BE61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9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3CA51-8B14-8B50-C7B4-B20136321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8111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DBBA7-2449-A63A-95B8-866410FA8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100"/>
            <a:ext cx="5157787" cy="3992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0D04F-3E2E-31AA-FDDD-DCB0C880F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8111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85696A-0C33-6D83-47D3-D18EB660A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100"/>
            <a:ext cx="5183188" cy="3992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377789E-520D-1B5C-659D-ACF7D4DBB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455" y="6390149"/>
            <a:ext cx="260309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3655C57-8038-7C7A-2A89-6F7C8AB5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3264" y="6380726"/>
            <a:ext cx="158053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9F31392-AA0E-4A04-962A-5C75AB0CB4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7977C99-8E88-512E-3E0B-2D24E28429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6945" r="13333" b="15972"/>
          <a:stretch>
            <a:fillRect/>
          </a:stretch>
        </p:blipFill>
        <p:spPr>
          <a:xfrm>
            <a:off x="11651775" y="136525"/>
            <a:ext cx="454361" cy="457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877074-F35C-619A-D2DA-82F14053FB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90149"/>
            <a:ext cx="609600" cy="2743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EEA026-FB4A-9FB8-C24F-3C100B360A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992" y="6390149"/>
            <a:ext cx="676478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AB793DA-7332-1BE1-EC9E-D00FDA642F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526" y="250825"/>
            <a:ext cx="508000" cy="228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52E3F0-A204-F46D-B5AA-EF71F76274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318" y="250825"/>
            <a:ext cx="563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8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11A3-FAF4-FB76-0B7F-55928DDE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7294"/>
            <a:ext cx="1051560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37B29D1-0277-A9B0-843A-F219BACD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455" y="6390149"/>
            <a:ext cx="260309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9AF1A31-14F1-D61D-3B7C-FAE34C39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3264" y="6380726"/>
            <a:ext cx="158053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9F31392-AA0E-4A04-962A-5C75AB0CB4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553F1D-E174-A436-CF7B-FBB04DAF87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6945" r="13333" b="15972"/>
          <a:stretch>
            <a:fillRect/>
          </a:stretch>
        </p:blipFill>
        <p:spPr>
          <a:xfrm>
            <a:off x="11651775" y="136525"/>
            <a:ext cx="454361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4298A4-1C96-31C5-2DFE-8AB497E6FF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90149"/>
            <a:ext cx="609600" cy="274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054D71-1829-E77E-33E0-5DDCD3886B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992" y="6390149"/>
            <a:ext cx="676478" cy="274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E89104-F073-2CF7-0525-FFCFA30EE24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526" y="250825"/>
            <a:ext cx="508000" cy="228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751881-C9F2-CD5D-0940-30861273B24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318" y="250825"/>
            <a:ext cx="563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99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29BCDA1-41C0-56A4-9157-227D865E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455" y="6390149"/>
            <a:ext cx="260309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B6DEBA8-8583-8E9A-74F4-07224961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3264" y="6380726"/>
            <a:ext cx="158053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9F31392-AA0E-4A04-962A-5C75AB0CB4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0D94ED-E837-BA18-D13F-2C790F3D5E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6945" r="13333" b="15972"/>
          <a:stretch>
            <a:fillRect/>
          </a:stretch>
        </p:blipFill>
        <p:spPr>
          <a:xfrm>
            <a:off x="11651775" y="136525"/>
            <a:ext cx="454361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FB0C87-9025-BA00-EA34-386C8980DE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90149"/>
            <a:ext cx="609600" cy="2743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39A2E0-3801-A663-B7B1-DAC378FB77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992" y="6390149"/>
            <a:ext cx="676478" cy="274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7F9650-49A4-9565-0EDD-75EEF64CEF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526" y="250825"/>
            <a:ext cx="508000" cy="22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92F1DB-D9E9-360D-D227-DE96D77C1EA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318" y="250825"/>
            <a:ext cx="563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6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2025-148E-267C-8BBF-D270A82AA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6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1CD15-FB5A-1F3F-FCBB-004E34753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76275"/>
            <a:ext cx="6172200" cy="55082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9BF4A-67C1-D603-25EF-B12B8C524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7825"/>
            <a:ext cx="3932237" cy="45366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4DC64FD-344A-9BB5-7ACB-7CF4D662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455" y="6390149"/>
            <a:ext cx="260309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D15E994-7220-C60A-CD55-2195AEE7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3264" y="6380726"/>
            <a:ext cx="158053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9F31392-AA0E-4A04-962A-5C75AB0CB4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5380DD-133E-7234-118E-2896847EB0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6945" r="13333" b="15972"/>
          <a:stretch>
            <a:fillRect/>
          </a:stretch>
        </p:blipFill>
        <p:spPr>
          <a:xfrm>
            <a:off x="11651775" y="136525"/>
            <a:ext cx="454361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0CC28F-CD9F-0DD9-C85A-C31A306B35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90149"/>
            <a:ext cx="609600" cy="274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AEB7CA-8EE3-1C95-3125-A08A483B4E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992" y="6390149"/>
            <a:ext cx="676478" cy="2743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028548-E5F6-1E16-3495-26572EBA65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526" y="250825"/>
            <a:ext cx="5080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6A8B3C-56BE-CECA-AFCE-98FCF48FEA7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318" y="250825"/>
            <a:ext cx="563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7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4EED-9931-9696-A45E-BFB395F3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715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1D64F5-AB6F-11CD-1AA6-B51877BB1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04851"/>
            <a:ext cx="6172200" cy="548947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EC2F0-5278-5CF2-BC16-AE58308FC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43051"/>
            <a:ext cx="3932237" cy="4651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2309F1F-D5D6-6509-F6DB-08334DDD7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94455" y="6390149"/>
            <a:ext cx="260309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E1F0D89-FEE5-65DF-84D0-D1492DEDF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73264" y="6380726"/>
            <a:ext cx="158053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B9F31392-AA0E-4A04-962A-5C75AB0CB4F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14814E-A6CF-A898-B19E-0E83F09257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16945" r="13333" b="15972"/>
          <a:stretch>
            <a:fillRect/>
          </a:stretch>
        </p:blipFill>
        <p:spPr>
          <a:xfrm>
            <a:off x="11651775" y="136525"/>
            <a:ext cx="454361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221FBD-74EB-224B-E74D-4129F42C07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90149"/>
            <a:ext cx="609600" cy="274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2E24E4-87FF-B8E6-4D16-1BED1CB49FD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992" y="6390149"/>
            <a:ext cx="676478" cy="2743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BCDBB7F-537D-BB31-4D60-9D928F5F994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526" y="250825"/>
            <a:ext cx="5080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6EFBE09-9FD9-6EC6-2CDC-7CBB1D431A1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318" y="250825"/>
            <a:ext cx="563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31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FDEF76-AE9D-B0F8-C773-89A7FE21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D7683-894C-1D41-23FD-82BF29B99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E7FA1-2660-B9ED-4456-E67E91E9E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8D4294"/>
                </a:solidFill>
              </a:defRPr>
            </a:lvl1pPr>
          </a:lstStyle>
          <a:p>
            <a:r>
              <a:rPr lang="en-US"/>
              <a:t>ICDSAIA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0765E-6205-2BAE-59A9-0C49AE5A7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88277" y="63708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8D4294"/>
                </a:solidFill>
              </a:defRPr>
            </a:lvl1pPr>
          </a:lstStyle>
          <a:p>
            <a:r>
              <a:rPr lang="en-US"/>
              <a:t>Slide - </a:t>
            </a:r>
            <a:fld id="{B9F31392-AA0E-4A04-962A-5C75AB0CB4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62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F176-C83A-2DFF-E19E-1752FF9B6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760" y="3639035"/>
            <a:ext cx="10952480" cy="1012170"/>
          </a:xfrm>
        </p:spPr>
        <p:txBody>
          <a:bodyPr>
            <a:noAutofit/>
          </a:bodyPr>
          <a:lstStyle/>
          <a:p>
            <a:r>
              <a:rPr lang="en-US" sz="3200" dirty="0" err="1" smtClean="0">
                <a:solidFill>
                  <a:srgbClr val="0070C0"/>
                </a:solidFill>
                <a:latin typeface="DM Sans Semi Bold" panose="02000000000000000000" charset="-120"/>
                <a:ea typeface="DM Sans Semi Bold" panose="02000000000000000000" charset="-120"/>
                <a:cs typeface="DM Sans Semi Bold" panose="02000000000000000000" charset="-120"/>
              </a:rPr>
              <a:t>BanglaSentNet</a:t>
            </a:r>
            <a:r>
              <a:rPr lang="en-US" sz="3200" dirty="0">
                <a:solidFill>
                  <a:srgbClr val="0070C0"/>
                </a:solidFill>
                <a:latin typeface="DM Sans Semi Bold" panose="02000000000000000000" charset="-120"/>
                <a:ea typeface="DM Sans Semi Bold" panose="02000000000000000000" charset="-120"/>
                <a:cs typeface="DM Sans Semi Bold" panose="02000000000000000000" charset="-120"/>
              </a:rPr>
              <a:t>: </a:t>
            </a:r>
            <a:r>
              <a:rPr lang="en-US" sz="3200" dirty="0">
                <a:latin typeface="DM Sans Semi Bold" panose="02000000000000000000" charset="-120"/>
                <a:ea typeface="DM Sans Semi Bold" panose="02000000000000000000" charset="-120"/>
                <a:cs typeface="DM Sans Semi Bold" panose="02000000000000000000" charset="-120"/>
              </a:rPr>
              <a:t>A Hybrid Deep </a:t>
            </a:r>
            <a:r>
              <a:rPr lang="en-US" sz="3200" dirty="0" smtClean="0">
                <a:latin typeface="DM Sans Semi Bold" panose="02000000000000000000" charset="-120"/>
                <a:ea typeface="DM Sans Semi Bold" panose="02000000000000000000" charset="-120"/>
                <a:cs typeface="DM Sans Semi Bold" panose="02000000000000000000" charset="-120"/>
              </a:rPr>
              <a:t>Learning Framework</a:t>
            </a:r>
            <a:r>
              <a:rPr lang="en-US" sz="3200" dirty="0">
                <a:latin typeface="DM Sans Semi Bold" panose="02000000000000000000" charset="-120"/>
                <a:ea typeface="DM Sans Semi Bold" panose="02000000000000000000" charset="-120"/>
                <a:cs typeface="DM Sans Semi Bold" panose="02000000000000000000" charset="-120"/>
              </a:rPr>
              <a:t> </a:t>
            </a:r>
            <a:r>
              <a:rPr lang="en-US" sz="3200" dirty="0" smtClean="0">
                <a:latin typeface="DM Sans Semi Bold" panose="02000000000000000000" charset="-120"/>
                <a:ea typeface="DM Sans Semi Bold" panose="02000000000000000000" charset="-120"/>
                <a:cs typeface="DM Sans Semi Bold" panose="02000000000000000000" charset="-120"/>
              </a:rPr>
              <a:t>for </a:t>
            </a:r>
            <a:r>
              <a:rPr lang="en-US" sz="3200" dirty="0">
                <a:latin typeface="DM Sans Semi Bold" panose="02000000000000000000" charset="-120"/>
                <a:ea typeface="DM Sans Semi Bold" panose="02000000000000000000" charset="-120"/>
                <a:cs typeface="DM Sans Semi Bold" panose="02000000000000000000" charset="-120"/>
              </a:rPr>
              <a:t>Multi-Aspect Sentiment Analysis </a:t>
            </a:r>
            <a:r>
              <a:rPr lang="en-US" sz="3200" dirty="0" smtClean="0">
                <a:latin typeface="DM Sans Semi Bold" panose="02000000000000000000" charset="-120"/>
                <a:ea typeface="DM Sans Semi Bold" panose="02000000000000000000" charset="-120"/>
                <a:cs typeface="DM Sans Semi Bold" panose="02000000000000000000" charset="-120"/>
              </a:rPr>
              <a:t>in Bangla </a:t>
            </a:r>
            <a:r>
              <a:rPr lang="en-US" sz="3200" dirty="0">
                <a:latin typeface="DM Sans Semi Bold" panose="02000000000000000000" charset="-120"/>
                <a:ea typeface="DM Sans Semi Bold" panose="02000000000000000000" charset="-120"/>
                <a:cs typeface="DM Sans Semi Bold" panose="02000000000000000000" charset="-120"/>
              </a:rPr>
              <a:t>E-Commerce Reviews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6D2B1A-766D-2AF4-59D1-EBC5B0AB4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2090"/>
            <a:ext cx="9144000" cy="751841"/>
          </a:xfrm>
        </p:spPr>
        <p:txBody>
          <a:bodyPr anchor="ctr">
            <a:noAutofit/>
          </a:bodyPr>
          <a:lstStyle/>
          <a:p>
            <a:r>
              <a:rPr lang="en-US" sz="2000" b="1" dirty="0" err="1"/>
              <a:t>Ariful</a:t>
            </a:r>
            <a:r>
              <a:rPr lang="en-US" sz="2000" b="1" dirty="0"/>
              <a:t> Islam </a:t>
            </a:r>
            <a:r>
              <a:rPr lang="en-US" sz="2000" b="1" dirty="0" smtClean="0"/>
              <a:t>and </a:t>
            </a:r>
            <a:r>
              <a:rPr lang="en-US" sz="2000" b="1" dirty="0" err="1"/>
              <a:t>Md</a:t>
            </a:r>
            <a:r>
              <a:rPr lang="en-US" sz="2000" b="1" dirty="0"/>
              <a:t> </a:t>
            </a:r>
            <a:r>
              <a:rPr lang="en-US" sz="2000" b="1" dirty="0" err="1"/>
              <a:t>Rifat</a:t>
            </a:r>
            <a:r>
              <a:rPr lang="en-US" sz="2000" b="1" dirty="0"/>
              <a:t> </a:t>
            </a:r>
            <a:r>
              <a:rPr lang="en-US" sz="2000" b="1" dirty="0" err="1"/>
              <a:t>Hossen</a:t>
            </a:r>
            <a:endParaRPr lang="en-US" sz="20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40DFD-382A-D0C4-6D99-C4220CB631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5286164"/>
            <a:ext cx="9144000" cy="3669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b="1" dirty="0" smtClean="0"/>
              <a:t>Chittagong </a:t>
            </a:r>
            <a:r>
              <a:rPr lang="en-US" sz="1800" b="1" dirty="0"/>
              <a:t>University of Engineering and Technology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24827-E43A-B33D-C0E4-C562019BDE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28240" y="2776586"/>
            <a:ext cx="7335520" cy="460375"/>
          </a:xfrm>
        </p:spPr>
        <p:txBody>
          <a:bodyPr>
            <a:normAutofit/>
          </a:bodyPr>
          <a:lstStyle/>
          <a:p>
            <a:r>
              <a:rPr lang="en-US" dirty="0"/>
              <a:t>Paper ID – </a:t>
            </a:r>
            <a:r>
              <a:rPr lang="en-US" dirty="0" smtClean="0"/>
              <a:t>151, Technical Session </a:t>
            </a:r>
            <a:r>
              <a:rPr lang="en-US" dirty="0"/>
              <a:t>– </a:t>
            </a:r>
            <a:r>
              <a:rPr lang="en-US" dirty="0" smtClean="0"/>
              <a:t>23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EAAA5D-C91A-F992-59B0-C68053D941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9600" y="6286713"/>
            <a:ext cx="3677920" cy="292527"/>
          </a:xfrm>
        </p:spPr>
        <p:txBody>
          <a:bodyPr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A2B33"/>
                </a:solidFill>
              </a:rPr>
              <a:t>18 July 2025</a:t>
            </a:r>
          </a:p>
        </p:txBody>
      </p:sp>
    </p:spTree>
    <p:extLst>
      <p:ext uri="{BB962C8B-B14F-4D97-AF65-F5344CB8AC3E}">
        <p14:creationId xmlns:p14="http://schemas.microsoft.com/office/powerpoint/2010/main" val="280643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F7F6-EA23-8CBF-1111-CAF21248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4ED6-7E60-8018-6A74-19EC48D7F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ICDSAIA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D990C-C0F6-F6B5-BD5A-4A7471C1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8" name="Text 0"/>
          <p:cNvSpPr/>
          <p:nvPr/>
        </p:nvSpPr>
        <p:spPr>
          <a:xfrm>
            <a:off x="667331" y="7198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Overview</a:t>
            </a:r>
            <a:endParaRPr lang="en-US" sz="4400" dirty="0"/>
          </a:p>
        </p:txBody>
      </p:sp>
      <p:sp>
        <p:nvSpPr>
          <p:cNvPr id="29" name="Shape 1"/>
          <p:cNvSpPr/>
          <p:nvPr/>
        </p:nvSpPr>
        <p:spPr>
          <a:xfrm flipV="1">
            <a:off x="667331" y="1445455"/>
            <a:ext cx="10686468" cy="45719"/>
          </a:xfrm>
          <a:prstGeom prst="rect">
            <a:avLst/>
          </a:prstGeom>
          <a:solidFill>
            <a:srgbClr val="464646">
              <a:alpha val="50000"/>
            </a:srgbClr>
          </a:solidFill>
          <a:ln/>
        </p:spPr>
      </p:sp>
      <p:sp>
        <p:nvSpPr>
          <p:cNvPr id="30" name="Text 2"/>
          <p:cNvSpPr/>
          <p:nvPr/>
        </p:nvSpPr>
        <p:spPr>
          <a:xfrm>
            <a:off x="667331" y="16710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31" name="Text 3"/>
          <p:cNvSpPr/>
          <p:nvPr/>
        </p:nvSpPr>
        <p:spPr>
          <a:xfrm>
            <a:off x="667331" y="21132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Related Work &amp; Background</a:t>
            </a:r>
            <a:endParaRPr lang="en-US" sz="2800" dirty="0"/>
          </a:p>
        </p:txBody>
      </p:sp>
      <p:sp>
        <p:nvSpPr>
          <p:cNvPr id="32" name="Text 4"/>
          <p:cNvSpPr/>
          <p:nvPr/>
        </p:nvSpPr>
        <p:spPr>
          <a:xfrm>
            <a:off x="667331" y="25554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Dataset &amp; Preprocessing</a:t>
            </a:r>
            <a:endParaRPr lang="en-US" sz="2800" dirty="0"/>
          </a:p>
        </p:txBody>
      </p:sp>
      <p:sp>
        <p:nvSpPr>
          <p:cNvPr id="33" name="Text 5"/>
          <p:cNvSpPr/>
          <p:nvPr/>
        </p:nvSpPr>
        <p:spPr>
          <a:xfrm>
            <a:off x="667331" y="29976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800" dirty="0" err="1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BanglaSentNet</a:t>
            </a:r>
            <a:r>
              <a:rPr lang="en-US" sz="28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4" name="Text 6"/>
          <p:cNvSpPr/>
          <p:nvPr/>
        </p:nvSpPr>
        <p:spPr>
          <a:xfrm>
            <a:off x="667331" y="3439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Training &amp; Ensemble Strategy</a:t>
            </a:r>
            <a:endParaRPr lang="en-US" sz="2800" dirty="0"/>
          </a:p>
        </p:txBody>
      </p:sp>
      <p:sp>
        <p:nvSpPr>
          <p:cNvPr id="35" name="Text 7"/>
          <p:cNvSpPr/>
          <p:nvPr/>
        </p:nvSpPr>
        <p:spPr>
          <a:xfrm>
            <a:off x="667331" y="38820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Results &amp; Performance Analysis</a:t>
            </a:r>
            <a:endParaRPr lang="en-US" sz="2800" dirty="0"/>
          </a:p>
        </p:txBody>
      </p:sp>
      <p:sp>
        <p:nvSpPr>
          <p:cNvPr id="36" name="Text 8"/>
          <p:cNvSpPr/>
          <p:nvPr/>
        </p:nvSpPr>
        <p:spPr>
          <a:xfrm>
            <a:off x="667331" y="432421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37" name="Text 9"/>
          <p:cNvSpPr/>
          <p:nvPr/>
        </p:nvSpPr>
        <p:spPr>
          <a:xfrm>
            <a:off x="667331" y="47664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References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138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12BF-9591-85BD-83AC-F25CD425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631D4-CFD6-CBBC-6CDF-D862D9A5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23214-958B-C396-492A-1A218829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365773" y="37047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Introduction</a:t>
            </a:r>
            <a:endParaRPr lang="en-US" sz="4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311" y="1579888"/>
            <a:ext cx="4221943" cy="4221943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365774" y="1342881"/>
            <a:ext cx="74455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 (Bengali)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is spoken by over 300 million people, yet it has </a:t>
            </a: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scarce NLP resources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600" dirty="0"/>
          </a:p>
        </p:txBody>
      </p:sp>
      <p:sp>
        <p:nvSpPr>
          <p:cNvPr id="17" name="Text 2"/>
          <p:cNvSpPr/>
          <p:nvPr/>
        </p:nvSpPr>
        <p:spPr>
          <a:xfrm>
            <a:off x="365773" y="2511479"/>
            <a:ext cx="74455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E-commerce reviews in Bangla often contain </a:t>
            </a: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multiple opinions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on various aspects (quality, price, service).</a:t>
            </a:r>
            <a:endParaRPr lang="en-US" sz="2600" dirty="0"/>
          </a:p>
        </p:txBody>
      </p:sp>
      <p:sp>
        <p:nvSpPr>
          <p:cNvPr id="18" name="Text 3"/>
          <p:cNvSpPr/>
          <p:nvPr/>
        </p:nvSpPr>
        <p:spPr>
          <a:xfrm>
            <a:off x="365773" y="3776841"/>
            <a:ext cx="7445538" cy="1220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sentiment analysis models miss these </a:t>
            </a: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nuanced aspects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predicting only single polarity.</a:t>
            </a:r>
            <a:endParaRPr lang="en-US" sz="2600" dirty="0"/>
          </a:p>
        </p:txBody>
      </p:sp>
      <p:sp>
        <p:nvSpPr>
          <p:cNvPr id="19" name="Text 4"/>
          <p:cNvSpPr/>
          <p:nvPr/>
        </p:nvSpPr>
        <p:spPr>
          <a:xfrm>
            <a:off x="365773" y="5091012"/>
            <a:ext cx="7445538" cy="111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Challenges include </a:t>
            </a: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limited benchmarked datasets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preprocessing tools for Bangla text </a:t>
            </a:r>
            <a:r>
              <a:rPr lang="en-US" sz="26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</a:t>
            </a:r>
            <a:r>
              <a:rPr lang="en-US" sz="2600" dirty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</a:t>
            </a:r>
            <a:r>
              <a:rPr lang="en-US" sz="26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</a:t>
            </a:r>
            <a:r>
              <a:rPr lang="en-US" sz="26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59095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ED527-FB31-FD23-32B2-0C8A99C45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D6B57-72FA-E8AD-4D27-39164C2C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287951" y="331529"/>
            <a:ext cx="59889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 &amp; Challenges</a:t>
            </a:r>
            <a:endParaRPr lang="en-US" sz="4400" dirty="0"/>
          </a:p>
        </p:txBody>
      </p:sp>
      <p:sp>
        <p:nvSpPr>
          <p:cNvPr id="8" name="Text 1"/>
          <p:cNvSpPr/>
          <p:nvPr/>
        </p:nvSpPr>
        <p:spPr>
          <a:xfrm>
            <a:off x="287951" y="1230212"/>
            <a:ext cx="7109594" cy="84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E-commerce reviews often contain </a:t>
            </a: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mixed sentiments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towards different aspects.</a:t>
            </a:r>
            <a:endParaRPr lang="en-US" sz="2600" dirty="0"/>
          </a:p>
        </p:txBody>
      </p:sp>
      <p:sp>
        <p:nvSpPr>
          <p:cNvPr id="10" name="Text 3"/>
          <p:cNvSpPr/>
          <p:nvPr/>
        </p:nvSpPr>
        <p:spPr>
          <a:xfrm>
            <a:off x="287951" y="2262195"/>
            <a:ext cx="7109594" cy="113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Goal: Perform </a:t>
            </a: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multi-aspect sentiment </a:t>
            </a:r>
            <a:r>
              <a:rPr lang="en-US" sz="26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classification</a:t>
            </a:r>
            <a:r>
              <a:rPr lang="en-US" sz="26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 Bangla across categories: Quality, Service, Pricing, Decoration.</a:t>
            </a:r>
            <a:endParaRPr lang="en-US" sz="2600" dirty="0"/>
          </a:p>
        </p:txBody>
      </p:sp>
      <p:sp>
        <p:nvSpPr>
          <p:cNvPr id="11" name="Text 4"/>
          <p:cNvSpPr/>
          <p:nvPr/>
        </p:nvSpPr>
        <p:spPr>
          <a:xfrm>
            <a:off x="287951" y="3576131"/>
            <a:ext cx="7109594" cy="116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Challenges: Complex Bangla morphology, informal writing, spelling variations, and </a:t>
            </a:r>
            <a:r>
              <a:rPr lang="en-US" sz="26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code-mixing</a:t>
            </a:r>
            <a:r>
              <a:rPr lang="en-US" sz="2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8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[6]</a:t>
            </a:r>
            <a:r>
              <a:rPr lang="en-US" sz="28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600" dirty="0"/>
          </a:p>
        </p:txBody>
      </p:sp>
      <p:sp>
        <p:nvSpPr>
          <p:cNvPr id="12" name="Text 5"/>
          <p:cNvSpPr/>
          <p:nvPr/>
        </p:nvSpPr>
        <p:spPr>
          <a:xfrm>
            <a:off x="7647146" y="1474086"/>
            <a:ext cx="35469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u="sng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Mixed Sentiment Example</a:t>
            </a:r>
            <a:endParaRPr lang="en-US" sz="2600" u="sng" dirty="0"/>
          </a:p>
        </p:txBody>
      </p:sp>
      <p:sp>
        <p:nvSpPr>
          <p:cNvPr id="13" name="Text 6"/>
          <p:cNvSpPr/>
          <p:nvPr/>
        </p:nvSpPr>
        <p:spPr>
          <a:xfrm>
            <a:off x="7647146" y="2145841"/>
            <a:ext cx="4544854" cy="75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Original: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“পণ্য মান খুব ভালা, কিন্তু দাম অনেক বেশি।”</a:t>
            </a:r>
            <a:endParaRPr lang="en-US" sz="2600" dirty="0"/>
          </a:p>
        </p:txBody>
      </p:sp>
      <p:sp>
        <p:nvSpPr>
          <p:cNvPr id="14" name="Text 7"/>
          <p:cNvSpPr/>
          <p:nvPr/>
        </p:nvSpPr>
        <p:spPr>
          <a:xfrm>
            <a:off x="7647146" y="3219318"/>
            <a:ext cx="4544854" cy="1197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Translation: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“Product quality is very good, but price is too high.”</a:t>
            </a:r>
            <a:endParaRPr lang="en-US" sz="2600" dirty="0"/>
          </a:p>
        </p:txBody>
      </p:sp>
      <p:sp>
        <p:nvSpPr>
          <p:cNvPr id="15" name="Text 8"/>
          <p:cNvSpPr/>
          <p:nvPr/>
        </p:nvSpPr>
        <p:spPr>
          <a:xfrm>
            <a:off x="7647146" y="4734517"/>
            <a:ext cx="4544854" cy="822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Analysis: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Quality (</a:t>
            </a:r>
            <a:r>
              <a:rPr lang="en-US" sz="2600" dirty="0">
                <a:solidFill>
                  <a:srgbClr val="008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Positive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), Price (</a:t>
            </a:r>
            <a:r>
              <a:rPr lang="en-US" sz="2600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Negative</a:t>
            </a: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</a:t>
            </a:r>
            <a:endParaRPr lang="en-US" sz="2600" dirty="0"/>
          </a:p>
        </p:txBody>
      </p:sp>
      <p:sp>
        <p:nvSpPr>
          <p:cNvPr id="16" name="Shape 9"/>
          <p:cNvSpPr/>
          <p:nvPr/>
        </p:nvSpPr>
        <p:spPr>
          <a:xfrm>
            <a:off x="7397545" y="1230212"/>
            <a:ext cx="45719" cy="4567473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7" name="Rectangle 16"/>
          <p:cNvSpPr/>
          <p:nvPr/>
        </p:nvSpPr>
        <p:spPr>
          <a:xfrm>
            <a:off x="190674" y="4857996"/>
            <a:ext cx="7109595" cy="836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Limited pre-trained models are fine-tuned specifically for Bangla </a:t>
            </a:r>
            <a:r>
              <a:rPr lang="en-US" sz="26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[12]</a:t>
            </a:r>
            <a:r>
              <a:rPr lang="en-US" sz="26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27039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FDC9D-E466-5438-CC59-9CC0815E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/>
              <a:t>ICDSAIA 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38797-EDDB-4E09-4E7D-16F2D0BB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0"/>
          <p:cNvSpPr/>
          <p:nvPr/>
        </p:nvSpPr>
        <p:spPr>
          <a:xfrm>
            <a:off x="287952" y="3585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Contributions</a:t>
            </a:r>
            <a:endParaRPr lang="en-US" sz="4400" dirty="0"/>
          </a:p>
        </p:txBody>
      </p:sp>
      <p:sp>
        <p:nvSpPr>
          <p:cNvPr id="9" name="Shape 1"/>
          <p:cNvSpPr/>
          <p:nvPr/>
        </p:nvSpPr>
        <p:spPr>
          <a:xfrm>
            <a:off x="287952" y="1296575"/>
            <a:ext cx="4921595" cy="104351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0" name="Shape 2"/>
          <p:cNvSpPr/>
          <p:nvPr/>
        </p:nvSpPr>
        <p:spPr>
          <a:xfrm>
            <a:off x="2454400" y="1067378"/>
            <a:ext cx="522611" cy="582389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351" y="1188484"/>
            <a:ext cx="232955" cy="291143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482598" y="1826182"/>
            <a:ext cx="3211947" cy="354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 Creation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>
            <a:off x="482598" y="2301331"/>
            <a:ext cx="4726948" cy="1350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Large Bangla e-commerce review dataset labeled by aspect (Quality, Service, Price, Decoration).</a:t>
            </a:r>
            <a:endParaRPr lang="en-US" sz="2600" dirty="0"/>
          </a:p>
        </p:txBody>
      </p:sp>
      <p:sp>
        <p:nvSpPr>
          <p:cNvPr id="14" name="Shape 5"/>
          <p:cNvSpPr/>
          <p:nvPr/>
        </p:nvSpPr>
        <p:spPr>
          <a:xfrm>
            <a:off x="6922727" y="1296575"/>
            <a:ext cx="4921686" cy="104351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5" name="Shape 6"/>
          <p:cNvSpPr/>
          <p:nvPr/>
        </p:nvSpPr>
        <p:spPr>
          <a:xfrm>
            <a:off x="9089158" y="1067378"/>
            <a:ext cx="522611" cy="582389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108" y="1188484"/>
            <a:ext cx="232955" cy="291143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7117370" y="1822982"/>
            <a:ext cx="2177591" cy="30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Hybrid Deep Model</a:t>
            </a:r>
            <a:endParaRPr lang="en-US" sz="2600" dirty="0"/>
          </a:p>
        </p:txBody>
      </p:sp>
      <p:sp>
        <p:nvSpPr>
          <p:cNvPr id="18" name="Text 8"/>
          <p:cNvSpPr/>
          <p:nvPr/>
        </p:nvSpPr>
        <p:spPr>
          <a:xfrm>
            <a:off x="7117369" y="2293694"/>
            <a:ext cx="4906017" cy="136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Design integrating LSTM, BiLSTM, GRU, and BanglaBERT (transformer) for enhanced learning.</a:t>
            </a:r>
            <a:endParaRPr lang="en-US" sz="2600" dirty="0"/>
          </a:p>
        </p:txBody>
      </p:sp>
      <p:sp>
        <p:nvSpPr>
          <p:cNvPr id="19" name="Shape 9"/>
          <p:cNvSpPr/>
          <p:nvPr/>
        </p:nvSpPr>
        <p:spPr>
          <a:xfrm>
            <a:off x="287952" y="3904044"/>
            <a:ext cx="4921595" cy="104351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20" name="Shape 10"/>
          <p:cNvSpPr/>
          <p:nvPr/>
        </p:nvSpPr>
        <p:spPr>
          <a:xfrm>
            <a:off x="2454400" y="3674847"/>
            <a:ext cx="522611" cy="582389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351" y="3795953"/>
            <a:ext cx="232955" cy="291143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482598" y="4377995"/>
            <a:ext cx="2177591" cy="30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Ensemble Strategy</a:t>
            </a:r>
            <a:endParaRPr lang="en-US" sz="2600" dirty="0"/>
          </a:p>
        </p:txBody>
      </p:sp>
      <p:sp>
        <p:nvSpPr>
          <p:cNvPr id="23" name="Text 12"/>
          <p:cNvSpPr/>
          <p:nvPr/>
        </p:nvSpPr>
        <p:spPr>
          <a:xfrm>
            <a:off x="482597" y="4852750"/>
            <a:ext cx="4726949" cy="128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Weighted ensemble strategy combining models to improve classification accuracy.</a:t>
            </a:r>
            <a:endParaRPr lang="en-US" sz="2600" dirty="0"/>
          </a:p>
        </p:txBody>
      </p:sp>
      <p:sp>
        <p:nvSpPr>
          <p:cNvPr id="24" name="Shape 13"/>
          <p:cNvSpPr/>
          <p:nvPr/>
        </p:nvSpPr>
        <p:spPr>
          <a:xfrm>
            <a:off x="6922727" y="3904044"/>
            <a:ext cx="4921686" cy="104351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25" name="Shape 14"/>
          <p:cNvSpPr/>
          <p:nvPr/>
        </p:nvSpPr>
        <p:spPr>
          <a:xfrm>
            <a:off x="9089158" y="3674847"/>
            <a:ext cx="522611" cy="582389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108" y="3795953"/>
            <a:ext cx="232955" cy="29114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117369" y="4373447"/>
            <a:ext cx="2177591" cy="303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28" name="Text 16"/>
          <p:cNvSpPr/>
          <p:nvPr/>
        </p:nvSpPr>
        <p:spPr>
          <a:xfrm>
            <a:off x="7117370" y="4852750"/>
            <a:ext cx="4818468" cy="142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 engineering to handle Bangla-specific issues: class imbalance, misspellings, informal text.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4609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Text 0"/>
          <p:cNvSpPr/>
          <p:nvPr/>
        </p:nvSpPr>
        <p:spPr>
          <a:xfrm>
            <a:off x="667332" y="215329"/>
            <a:ext cx="10557171" cy="129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Related Work - International &amp; ABSA Foundations</a:t>
            </a:r>
            <a:endParaRPr lang="en-US" sz="4400" dirty="0"/>
          </a:p>
        </p:txBody>
      </p:sp>
      <p:sp>
        <p:nvSpPr>
          <p:cNvPr id="17" name="Text 1"/>
          <p:cNvSpPr/>
          <p:nvPr/>
        </p:nvSpPr>
        <p:spPr>
          <a:xfrm>
            <a:off x="667332" y="1634999"/>
            <a:ext cx="4911298" cy="83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500" u="sng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International ABSA Foundations</a:t>
            </a:r>
            <a:endParaRPr lang="en-US" sz="2500" u="sng" dirty="0"/>
          </a:p>
        </p:txBody>
      </p:sp>
      <p:sp>
        <p:nvSpPr>
          <p:cNvPr id="18" name="Text 2"/>
          <p:cNvSpPr/>
          <p:nvPr/>
        </p:nvSpPr>
        <p:spPr>
          <a:xfrm>
            <a:off x="667332" y="2442129"/>
            <a:ext cx="4911298" cy="1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SemEval tasks established </a:t>
            </a: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ABSA benchmarks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[1,2]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  <p:sp>
        <p:nvSpPr>
          <p:cNvPr id="19" name="Text 3"/>
          <p:cNvSpPr/>
          <p:nvPr/>
        </p:nvSpPr>
        <p:spPr>
          <a:xfrm>
            <a:off x="667332" y="3399861"/>
            <a:ext cx="4911298" cy="1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Advanced techniques include </a:t>
            </a: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Hierarchical GCNs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explicit and implicit sentiment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[3]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  <p:sp>
        <p:nvSpPr>
          <p:cNvPr id="20" name="Text 4"/>
          <p:cNvSpPr/>
          <p:nvPr/>
        </p:nvSpPr>
        <p:spPr>
          <a:xfrm>
            <a:off x="667332" y="4796128"/>
            <a:ext cx="4911298" cy="127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Hybrid </a:t>
            </a: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lexical-ML approaches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are used in service industry ABSA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[4]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  <p:sp>
        <p:nvSpPr>
          <p:cNvPr id="21" name="Text 5"/>
          <p:cNvSpPr/>
          <p:nvPr/>
        </p:nvSpPr>
        <p:spPr>
          <a:xfrm>
            <a:off x="6442501" y="1630762"/>
            <a:ext cx="3763194" cy="41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500" u="sng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Early Bangla NLP</a:t>
            </a:r>
            <a:endParaRPr lang="en-US" sz="2500" u="sng" dirty="0"/>
          </a:p>
        </p:txBody>
      </p:sp>
      <p:sp>
        <p:nvSpPr>
          <p:cNvPr id="22" name="Text 6"/>
          <p:cNvSpPr/>
          <p:nvPr/>
        </p:nvSpPr>
        <p:spPr>
          <a:xfrm>
            <a:off x="6442501" y="2111311"/>
            <a:ext cx="4911298" cy="1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Mandal et al. pioneered supervised learning for </a:t>
            </a: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 classification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[5]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  <p:sp>
        <p:nvSpPr>
          <p:cNvPr id="23" name="Text 7"/>
          <p:cNvSpPr/>
          <p:nvPr/>
        </p:nvSpPr>
        <p:spPr>
          <a:xfrm>
            <a:off x="6442501" y="3563765"/>
            <a:ext cx="4911298" cy="1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Dhar et al. identified challenges like </a:t>
            </a: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morphological complexity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 ML classifiers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[6]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  <p:sp>
        <p:nvSpPr>
          <p:cNvPr id="24" name="Text 8"/>
          <p:cNvSpPr/>
          <p:nvPr/>
        </p:nvSpPr>
        <p:spPr>
          <a:xfrm>
            <a:off x="6442501" y="5022527"/>
            <a:ext cx="4911298" cy="1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Neural transition: Multi-label classification using </a:t>
            </a: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Bengali word </a:t>
            </a:r>
            <a:r>
              <a:rPr lang="en-US" sz="2500" b="1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embeddings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[7]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86851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Text 0"/>
          <p:cNvSpPr/>
          <p:nvPr/>
        </p:nvSpPr>
        <p:spPr>
          <a:xfrm>
            <a:off x="667332" y="215329"/>
            <a:ext cx="10557171" cy="129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000"/>
              </a:lnSpc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Related Work - Deep Learning &amp; Modern Approaches</a:t>
            </a:r>
            <a:endParaRPr lang="en-US" sz="4400" dirty="0"/>
          </a:p>
        </p:txBody>
      </p:sp>
      <p:sp>
        <p:nvSpPr>
          <p:cNvPr id="17" name="Text 1"/>
          <p:cNvSpPr/>
          <p:nvPr/>
        </p:nvSpPr>
        <p:spPr>
          <a:xfrm>
            <a:off x="667332" y="1634999"/>
            <a:ext cx="4911298" cy="83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500" u="sng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Deep Learning Advances</a:t>
            </a:r>
            <a:endParaRPr lang="en-US" sz="2500" u="sng" dirty="0"/>
          </a:p>
        </p:txBody>
      </p:sp>
      <p:sp>
        <p:nvSpPr>
          <p:cNvPr id="18" name="Text 2"/>
          <p:cNvSpPr/>
          <p:nvPr/>
        </p:nvSpPr>
        <p:spPr>
          <a:xfrm>
            <a:off x="667332" y="2111311"/>
            <a:ext cx="4911298" cy="1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CNN, </a:t>
            </a:r>
            <a:r>
              <a:rPr lang="en-US" sz="2500" b="1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BiLSTM</a:t>
            </a: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GRU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models compared for Bangla SA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[8]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  <p:sp>
        <p:nvSpPr>
          <p:cNvPr id="19" name="Text 3"/>
          <p:cNvSpPr/>
          <p:nvPr/>
        </p:nvSpPr>
        <p:spPr>
          <a:xfrm>
            <a:off x="667332" y="3278662"/>
            <a:ext cx="4911298" cy="1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Transfer learning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with Multilingual BERT shown effective for Bengali SA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[9]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  <p:sp>
        <p:nvSpPr>
          <p:cNvPr id="20" name="Text 4"/>
          <p:cNvSpPr/>
          <p:nvPr/>
        </p:nvSpPr>
        <p:spPr>
          <a:xfrm>
            <a:off x="667332" y="4796128"/>
            <a:ext cx="4911298" cy="127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Specialized datasets like </a:t>
            </a:r>
            <a:r>
              <a:rPr lang="en-US" sz="2500" b="1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BanglaBook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created for domain-specific research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[10]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  <p:sp>
        <p:nvSpPr>
          <p:cNvPr id="21" name="Text 5"/>
          <p:cNvSpPr/>
          <p:nvPr/>
        </p:nvSpPr>
        <p:spPr>
          <a:xfrm>
            <a:off x="6442501" y="1630762"/>
            <a:ext cx="4911298" cy="363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500" u="sng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Transformer &amp; Ensemble Methods</a:t>
            </a:r>
            <a:endParaRPr lang="en-US" sz="2500" u="sng" dirty="0"/>
          </a:p>
        </p:txBody>
      </p:sp>
      <p:sp>
        <p:nvSpPr>
          <p:cNvPr id="22" name="Text 6"/>
          <p:cNvSpPr/>
          <p:nvPr/>
        </p:nvSpPr>
        <p:spPr>
          <a:xfrm>
            <a:off x="6442501" y="2111311"/>
            <a:ext cx="4911298" cy="1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BERT and </a:t>
            </a:r>
            <a:r>
              <a:rPr lang="en-US" sz="2500" b="1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BanglaBERT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applied to low-resource Bengali tasks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[11,12]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  <p:sp>
        <p:nvSpPr>
          <p:cNvPr id="23" name="Text 7"/>
          <p:cNvSpPr/>
          <p:nvPr/>
        </p:nvSpPr>
        <p:spPr>
          <a:xfrm>
            <a:off x="6442501" y="3563765"/>
            <a:ext cx="4911298" cy="1701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2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Hybrid approaches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combining Lexicon + </a:t>
            </a:r>
            <a:r>
              <a:rPr lang="en-US" sz="25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BanglaBERT</a:t>
            </a:r>
            <a:r>
              <a:rPr lang="en-US" sz="2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achieved record performance </a:t>
            </a:r>
            <a:r>
              <a:rPr lang="en-US" sz="2500" dirty="0" smtClean="0">
                <a:solidFill>
                  <a:srgbClr val="00B0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[13]</a:t>
            </a:r>
            <a:r>
              <a:rPr lang="en-US" sz="25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76751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191521" y="291381"/>
            <a:ext cx="6014726" cy="432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 and Annotation</a:t>
            </a:r>
            <a:endParaRPr lang="en-US" sz="4400" dirty="0"/>
          </a:p>
        </p:txBody>
      </p:sp>
      <p:sp>
        <p:nvSpPr>
          <p:cNvPr id="8" name="Text 1"/>
          <p:cNvSpPr/>
          <p:nvPr/>
        </p:nvSpPr>
        <p:spPr>
          <a:xfrm>
            <a:off x="119487" y="992621"/>
            <a:ext cx="12076381" cy="604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22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Collection</a:t>
            </a:r>
            <a:r>
              <a:rPr lang="en-US" sz="2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We collected 8,755 Bangla product reviews from prominent e-commerce platforms, including Daraz, Facebook Marketplace, Rokomari, and Shajgoj.</a:t>
            </a:r>
            <a:endParaRPr lang="en-US" sz="2200" dirty="0"/>
          </a:p>
        </p:txBody>
      </p:sp>
      <p:sp>
        <p:nvSpPr>
          <p:cNvPr id="9" name="Text 2"/>
          <p:cNvSpPr/>
          <p:nvPr/>
        </p:nvSpPr>
        <p:spPr>
          <a:xfrm>
            <a:off x="115618" y="1643478"/>
            <a:ext cx="12080250" cy="778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0"/>
              </a:lnSpc>
              <a:buSzPct val="100000"/>
              <a:buChar char="•"/>
            </a:pPr>
            <a:r>
              <a:rPr lang="en-US" sz="22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Annotation</a:t>
            </a:r>
            <a:r>
              <a:rPr lang="en-US" sz="2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Trained Computer Science students manually labeled each review, with domain experts ensuring high-quality annotations for Quality, Service, Pricing, and Decoration (Positive, Negative, or Neutral).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6938937" y="3741307"/>
            <a:ext cx="6376392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602991" y="2584968"/>
            <a:ext cx="6376392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Table 2: Sentiment Distribution by Aspect</a:t>
            </a:r>
            <a:endParaRPr lang="en-US" sz="2400" dirty="0"/>
          </a:p>
        </p:txBody>
      </p:sp>
      <p:sp>
        <p:nvSpPr>
          <p:cNvPr id="32" name="Shape 25"/>
          <p:cNvSpPr/>
          <p:nvPr/>
        </p:nvSpPr>
        <p:spPr>
          <a:xfrm>
            <a:off x="5602991" y="2972279"/>
            <a:ext cx="6376392" cy="2080974"/>
          </a:xfrm>
          <a:prstGeom prst="roundRect">
            <a:avLst>
              <a:gd name="adj" fmla="val 102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610611" y="2979899"/>
            <a:ext cx="6361152" cy="4131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5753129" y="3072767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Aspect</a:t>
            </a:r>
            <a:endParaRPr lang="en-US" sz="2400" dirty="0"/>
          </a:p>
        </p:txBody>
      </p:sp>
      <p:sp>
        <p:nvSpPr>
          <p:cNvPr id="35" name="Text 28"/>
          <p:cNvSpPr/>
          <p:nvPr/>
        </p:nvSpPr>
        <p:spPr>
          <a:xfrm>
            <a:off x="7347138" y="3072767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Positive</a:t>
            </a:r>
            <a:endParaRPr lang="en-US" sz="2400" dirty="0"/>
          </a:p>
        </p:txBody>
      </p:sp>
      <p:sp>
        <p:nvSpPr>
          <p:cNvPr id="36" name="Text 29"/>
          <p:cNvSpPr/>
          <p:nvPr/>
        </p:nvSpPr>
        <p:spPr>
          <a:xfrm>
            <a:off x="8937336" y="3072767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Negative</a:t>
            </a:r>
            <a:endParaRPr lang="en-US" sz="2400" dirty="0"/>
          </a:p>
        </p:txBody>
      </p:sp>
      <p:sp>
        <p:nvSpPr>
          <p:cNvPr id="37" name="Text 30"/>
          <p:cNvSpPr/>
          <p:nvPr/>
        </p:nvSpPr>
        <p:spPr>
          <a:xfrm>
            <a:off x="10527535" y="3072767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Neutral</a:t>
            </a:r>
            <a:endParaRPr lang="en-US" sz="2400" dirty="0"/>
          </a:p>
        </p:txBody>
      </p:sp>
      <p:sp>
        <p:nvSpPr>
          <p:cNvPr id="38" name="Shape 31"/>
          <p:cNvSpPr/>
          <p:nvPr/>
        </p:nvSpPr>
        <p:spPr>
          <a:xfrm>
            <a:off x="5576806" y="3393045"/>
            <a:ext cx="6361152" cy="4131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5753129" y="3485914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Quality</a:t>
            </a:r>
            <a:endParaRPr lang="en-US" sz="2400" dirty="0"/>
          </a:p>
        </p:txBody>
      </p:sp>
      <p:sp>
        <p:nvSpPr>
          <p:cNvPr id="40" name="Text 33"/>
          <p:cNvSpPr/>
          <p:nvPr/>
        </p:nvSpPr>
        <p:spPr>
          <a:xfrm>
            <a:off x="7347138" y="3485914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2,400</a:t>
            </a:r>
            <a:endParaRPr lang="en-US" sz="2400" dirty="0"/>
          </a:p>
        </p:txBody>
      </p:sp>
      <p:sp>
        <p:nvSpPr>
          <p:cNvPr id="41" name="Text 34"/>
          <p:cNvSpPr/>
          <p:nvPr/>
        </p:nvSpPr>
        <p:spPr>
          <a:xfrm>
            <a:off x="8937336" y="3485914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1,200</a:t>
            </a:r>
            <a:endParaRPr lang="en-US" sz="2400" dirty="0"/>
          </a:p>
        </p:txBody>
      </p:sp>
      <p:sp>
        <p:nvSpPr>
          <p:cNvPr id="42" name="Text 35"/>
          <p:cNvSpPr/>
          <p:nvPr/>
        </p:nvSpPr>
        <p:spPr>
          <a:xfrm>
            <a:off x="10527535" y="3485914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400</a:t>
            </a:r>
            <a:endParaRPr lang="en-US" sz="2400" dirty="0"/>
          </a:p>
        </p:txBody>
      </p:sp>
      <p:sp>
        <p:nvSpPr>
          <p:cNvPr id="43" name="Shape 36"/>
          <p:cNvSpPr/>
          <p:nvPr/>
        </p:nvSpPr>
        <p:spPr>
          <a:xfrm>
            <a:off x="5610611" y="3806192"/>
            <a:ext cx="6361152" cy="4131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4" name="Text 37"/>
          <p:cNvSpPr/>
          <p:nvPr/>
        </p:nvSpPr>
        <p:spPr>
          <a:xfrm>
            <a:off x="5753129" y="3899061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Service</a:t>
            </a:r>
            <a:endParaRPr lang="en-US" sz="2400" dirty="0"/>
          </a:p>
        </p:txBody>
      </p:sp>
      <p:sp>
        <p:nvSpPr>
          <p:cNvPr id="45" name="Text 38"/>
          <p:cNvSpPr/>
          <p:nvPr/>
        </p:nvSpPr>
        <p:spPr>
          <a:xfrm>
            <a:off x="7347138" y="3899061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600</a:t>
            </a:r>
            <a:endParaRPr lang="en-US" sz="2400" dirty="0"/>
          </a:p>
        </p:txBody>
      </p:sp>
      <p:sp>
        <p:nvSpPr>
          <p:cNvPr id="46" name="Text 39"/>
          <p:cNvSpPr/>
          <p:nvPr/>
        </p:nvSpPr>
        <p:spPr>
          <a:xfrm>
            <a:off x="8937336" y="3899061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300</a:t>
            </a:r>
            <a:endParaRPr lang="en-US" sz="2400" dirty="0"/>
          </a:p>
        </p:txBody>
      </p:sp>
      <p:sp>
        <p:nvSpPr>
          <p:cNvPr id="47" name="Text 40"/>
          <p:cNvSpPr/>
          <p:nvPr/>
        </p:nvSpPr>
        <p:spPr>
          <a:xfrm>
            <a:off x="10527535" y="3899061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100</a:t>
            </a:r>
            <a:endParaRPr lang="en-US" sz="2400" dirty="0"/>
          </a:p>
        </p:txBody>
      </p:sp>
      <p:sp>
        <p:nvSpPr>
          <p:cNvPr id="48" name="Shape 41"/>
          <p:cNvSpPr/>
          <p:nvPr/>
        </p:nvSpPr>
        <p:spPr>
          <a:xfrm>
            <a:off x="5610611" y="4219339"/>
            <a:ext cx="6361152" cy="41314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9" name="Text 42"/>
          <p:cNvSpPr/>
          <p:nvPr/>
        </p:nvSpPr>
        <p:spPr>
          <a:xfrm>
            <a:off x="5753129" y="4312208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Price</a:t>
            </a:r>
            <a:endParaRPr lang="en-US" sz="2400" dirty="0"/>
          </a:p>
        </p:txBody>
      </p:sp>
      <p:sp>
        <p:nvSpPr>
          <p:cNvPr id="50" name="Text 43"/>
          <p:cNvSpPr/>
          <p:nvPr/>
        </p:nvSpPr>
        <p:spPr>
          <a:xfrm>
            <a:off x="7347138" y="4312208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1500</a:t>
            </a:r>
            <a:endParaRPr lang="en-US" sz="2400" dirty="0"/>
          </a:p>
        </p:txBody>
      </p:sp>
      <p:sp>
        <p:nvSpPr>
          <p:cNvPr id="51" name="Text 44"/>
          <p:cNvSpPr/>
          <p:nvPr/>
        </p:nvSpPr>
        <p:spPr>
          <a:xfrm>
            <a:off x="8937336" y="4312208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900</a:t>
            </a:r>
            <a:endParaRPr lang="en-US" sz="2400" dirty="0"/>
          </a:p>
        </p:txBody>
      </p:sp>
      <p:sp>
        <p:nvSpPr>
          <p:cNvPr id="52" name="Text 45"/>
          <p:cNvSpPr/>
          <p:nvPr/>
        </p:nvSpPr>
        <p:spPr>
          <a:xfrm>
            <a:off x="10527535" y="4312208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100</a:t>
            </a:r>
            <a:endParaRPr lang="en-US" sz="2400" dirty="0"/>
          </a:p>
        </p:txBody>
      </p:sp>
      <p:sp>
        <p:nvSpPr>
          <p:cNvPr id="53" name="Shape 46"/>
          <p:cNvSpPr/>
          <p:nvPr/>
        </p:nvSpPr>
        <p:spPr>
          <a:xfrm>
            <a:off x="5576806" y="4632485"/>
            <a:ext cx="6361152" cy="4131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4" name="Text 47"/>
          <p:cNvSpPr/>
          <p:nvPr/>
        </p:nvSpPr>
        <p:spPr>
          <a:xfrm>
            <a:off x="5753129" y="4725355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Decoration</a:t>
            </a:r>
            <a:endParaRPr lang="en-US" sz="2400" dirty="0"/>
          </a:p>
        </p:txBody>
      </p:sp>
      <p:sp>
        <p:nvSpPr>
          <p:cNvPr id="55" name="Text 48"/>
          <p:cNvSpPr/>
          <p:nvPr/>
        </p:nvSpPr>
        <p:spPr>
          <a:xfrm>
            <a:off x="7347138" y="4725355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750</a:t>
            </a:r>
            <a:endParaRPr lang="en-US" sz="2400" dirty="0"/>
          </a:p>
        </p:txBody>
      </p:sp>
      <p:sp>
        <p:nvSpPr>
          <p:cNvPr id="56" name="Text 49"/>
          <p:cNvSpPr/>
          <p:nvPr/>
        </p:nvSpPr>
        <p:spPr>
          <a:xfrm>
            <a:off x="8937336" y="4725355"/>
            <a:ext cx="129825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400</a:t>
            </a:r>
            <a:endParaRPr lang="en-US" sz="2400" dirty="0"/>
          </a:p>
        </p:txBody>
      </p:sp>
      <p:sp>
        <p:nvSpPr>
          <p:cNvPr id="57" name="Text 50"/>
          <p:cNvSpPr/>
          <p:nvPr/>
        </p:nvSpPr>
        <p:spPr>
          <a:xfrm>
            <a:off x="10527535" y="4725355"/>
            <a:ext cx="130206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105</a:t>
            </a:r>
            <a:endParaRPr lang="en-US" sz="2400" dirty="0"/>
          </a:p>
        </p:txBody>
      </p:sp>
      <p:sp>
        <p:nvSpPr>
          <p:cNvPr id="58" name="Text 3"/>
          <p:cNvSpPr/>
          <p:nvPr/>
        </p:nvSpPr>
        <p:spPr>
          <a:xfrm>
            <a:off x="115618" y="2584968"/>
            <a:ext cx="5252485" cy="23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Table 1: Reviews by Platform</a:t>
            </a:r>
            <a:endParaRPr lang="en-US" sz="2400" dirty="0"/>
          </a:p>
        </p:txBody>
      </p:sp>
      <p:sp>
        <p:nvSpPr>
          <p:cNvPr id="59" name="Shape 4"/>
          <p:cNvSpPr/>
          <p:nvPr/>
        </p:nvSpPr>
        <p:spPr>
          <a:xfrm>
            <a:off x="115618" y="2972278"/>
            <a:ext cx="5247553" cy="2892024"/>
          </a:xfrm>
          <a:prstGeom prst="roundRect">
            <a:avLst>
              <a:gd name="adj" fmla="val 85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0" name="Shape 5"/>
          <p:cNvSpPr/>
          <p:nvPr/>
        </p:nvSpPr>
        <p:spPr>
          <a:xfrm>
            <a:off x="123239" y="2979898"/>
            <a:ext cx="5239932" cy="4210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1" name="Text 6"/>
          <p:cNvSpPr/>
          <p:nvPr/>
        </p:nvSpPr>
        <p:spPr>
          <a:xfrm>
            <a:off x="265519" y="3072767"/>
            <a:ext cx="2382572" cy="23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Platform</a:t>
            </a:r>
            <a:endParaRPr lang="en-US" sz="2400" dirty="0"/>
          </a:p>
        </p:txBody>
      </p:sp>
      <p:sp>
        <p:nvSpPr>
          <p:cNvPr id="62" name="Text 7"/>
          <p:cNvSpPr/>
          <p:nvPr/>
        </p:nvSpPr>
        <p:spPr>
          <a:xfrm>
            <a:off x="2909337" y="3072766"/>
            <a:ext cx="2085141" cy="231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 Count</a:t>
            </a:r>
            <a:endParaRPr lang="en-US" sz="2400" dirty="0"/>
          </a:p>
        </p:txBody>
      </p:sp>
      <p:sp>
        <p:nvSpPr>
          <p:cNvPr id="63" name="Shape 8"/>
          <p:cNvSpPr/>
          <p:nvPr/>
        </p:nvSpPr>
        <p:spPr>
          <a:xfrm>
            <a:off x="123239" y="3393045"/>
            <a:ext cx="5239932" cy="4210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4" name="Text 9"/>
          <p:cNvSpPr/>
          <p:nvPr/>
        </p:nvSpPr>
        <p:spPr>
          <a:xfrm>
            <a:off x="265519" y="3485914"/>
            <a:ext cx="2382572" cy="23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Daraz</a:t>
            </a:r>
            <a:endParaRPr lang="en-US" sz="2400" dirty="0"/>
          </a:p>
        </p:txBody>
      </p:sp>
      <p:sp>
        <p:nvSpPr>
          <p:cNvPr id="65" name="Text 10"/>
          <p:cNvSpPr/>
          <p:nvPr/>
        </p:nvSpPr>
        <p:spPr>
          <a:xfrm>
            <a:off x="2909337" y="3485913"/>
            <a:ext cx="2085141" cy="231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6,521</a:t>
            </a:r>
            <a:endParaRPr lang="en-US" sz="2400" dirty="0"/>
          </a:p>
        </p:txBody>
      </p:sp>
      <p:sp>
        <p:nvSpPr>
          <p:cNvPr id="66" name="Shape 11"/>
          <p:cNvSpPr/>
          <p:nvPr/>
        </p:nvSpPr>
        <p:spPr>
          <a:xfrm>
            <a:off x="123239" y="3806192"/>
            <a:ext cx="5239932" cy="4210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7" name="Text 12"/>
          <p:cNvSpPr/>
          <p:nvPr/>
        </p:nvSpPr>
        <p:spPr>
          <a:xfrm>
            <a:off x="265519" y="3899061"/>
            <a:ext cx="2382572" cy="23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Facebook</a:t>
            </a:r>
            <a:endParaRPr lang="en-US" sz="2400" dirty="0"/>
          </a:p>
        </p:txBody>
      </p:sp>
      <p:sp>
        <p:nvSpPr>
          <p:cNvPr id="68" name="Text 13"/>
          <p:cNvSpPr/>
          <p:nvPr/>
        </p:nvSpPr>
        <p:spPr>
          <a:xfrm>
            <a:off x="2909337" y="3899060"/>
            <a:ext cx="2085141" cy="231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1,145</a:t>
            </a:r>
            <a:endParaRPr lang="en-US" sz="2400" dirty="0"/>
          </a:p>
        </p:txBody>
      </p:sp>
      <p:sp>
        <p:nvSpPr>
          <p:cNvPr id="69" name="Shape 14"/>
          <p:cNvSpPr/>
          <p:nvPr/>
        </p:nvSpPr>
        <p:spPr>
          <a:xfrm>
            <a:off x="123239" y="4219339"/>
            <a:ext cx="5239932" cy="4210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0" name="Text 15"/>
          <p:cNvSpPr/>
          <p:nvPr/>
        </p:nvSpPr>
        <p:spPr>
          <a:xfrm>
            <a:off x="265519" y="4312208"/>
            <a:ext cx="2382572" cy="23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Rokomari</a:t>
            </a:r>
            <a:endParaRPr lang="en-US" sz="2400" dirty="0"/>
          </a:p>
        </p:txBody>
      </p:sp>
      <p:sp>
        <p:nvSpPr>
          <p:cNvPr id="71" name="Text 16"/>
          <p:cNvSpPr/>
          <p:nvPr/>
        </p:nvSpPr>
        <p:spPr>
          <a:xfrm>
            <a:off x="2909337" y="4312207"/>
            <a:ext cx="2085141" cy="231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494</a:t>
            </a:r>
            <a:endParaRPr lang="en-US" sz="2400" dirty="0"/>
          </a:p>
        </p:txBody>
      </p:sp>
      <p:sp>
        <p:nvSpPr>
          <p:cNvPr id="72" name="Shape 17"/>
          <p:cNvSpPr/>
          <p:nvPr/>
        </p:nvSpPr>
        <p:spPr>
          <a:xfrm>
            <a:off x="123239" y="4632486"/>
            <a:ext cx="5239932" cy="4210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3" name="Text 18"/>
          <p:cNvSpPr/>
          <p:nvPr/>
        </p:nvSpPr>
        <p:spPr>
          <a:xfrm>
            <a:off x="265519" y="4725355"/>
            <a:ext cx="2382572" cy="23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Shajgoj</a:t>
            </a:r>
            <a:endParaRPr lang="en-US" sz="2400" dirty="0"/>
          </a:p>
        </p:txBody>
      </p:sp>
      <p:sp>
        <p:nvSpPr>
          <p:cNvPr id="74" name="Text 19"/>
          <p:cNvSpPr/>
          <p:nvPr/>
        </p:nvSpPr>
        <p:spPr>
          <a:xfrm>
            <a:off x="2909337" y="4725354"/>
            <a:ext cx="2085141" cy="231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155</a:t>
            </a:r>
            <a:endParaRPr lang="en-US" sz="2400" dirty="0"/>
          </a:p>
        </p:txBody>
      </p:sp>
      <p:sp>
        <p:nvSpPr>
          <p:cNvPr id="75" name="Shape 20"/>
          <p:cNvSpPr/>
          <p:nvPr/>
        </p:nvSpPr>
        <p:spPr>
          <a:xfrm>
            <a:off x="123239" y="5045633"/>
            <a:ext cx="5239932" cy="4210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6" name="Text 21"/>
          <p:cNvSpPr/>
          <p:nvPr/>
        </p:nvSpPr>
        <p:spPr>
          <a:xfrm>
            <a:off x="265519" y="5138501"/>
            <a:ext cx="2382572" cy="23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Other</a:t>
            </a:r>
            <a:endParaRPr lang="en-US" sz="2400" dirty="0"/>
          </a:p>
        </p:txBody>
      </p:sp>
      <p:sp>
        <p:nvSpPr>
          <p:cNvPr id="77" name="Text 22"/>
          <p:cNvSpPr/>
          <p:nvPr/>
        </p:nvSpPr>
        <p:spPr>
          <a:xfrm>
            <a:off x="2909337" y="5138500"/>
            <a:ext cx="2085141" cy="231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440</a:t>
            </a:r>
            <a:endParaRPr lang="en-US" sz="2400" dirty="0"/>
          </a:p>
        </p:txBody>
      </p:sp>
      <p:sp>
        <p:nvSpPr>
          <p:cNvPr id="80" name="Text 21"/>
          <p:cNvSpPr/>
          <p:nvPr/>
        </p:nvSpPr>
        <p:spPr>
          <a:xfrm>
            <a:off x="265519" y="5562839"/>
            <a:ext cx="2382572" cy="2317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</a:t>
            </a:r>
            <a:endParaRPr lang="en-US" sz="2400" b="1" dirty="0"/>
          </a:p>
        </p:txBody>
      </p:sp>
      <p:sp>
        <p:nvSpPr>
          <p:cNvPr id="81" name="Text 22"/>
          <p:cNvSpPr/>
          <p:nvPr/>
        </p:nvSpPr>
        <p:spPr>
          <a:xfrm>
            <a:off x="2909336" y="5559157"/>
            <a:ext cx="2085141" cy="2317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8,755</a:t>
            </a:r>
            <a:endParaRPr lang="en-US" sz="2400" b="1" dirty="0"/>
          </a:p>
        </p:txBody>
      </p:sp>
      <p:sp>
        <p:nvSpPr>
          <p:cNvPr id="82" name="Text 21"/>
          <p:cNvSpPr/>
          <p:nvPr/>
        </p:nvSpPr>
        <p:spPr>
          <a:xfrm>
            <a:off x="5863911" y="5144400"/>
            <a:ext cx="1075026" cy="2938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</a:t>
            </a:r>
            <a:endParaRPr lang="en-US" sz="2400" b="1" dirty="0"/>
          </a:p>
        </p:txBody>
      </p:sp>
      <p:sp>
        <p:nvSpPr>
          <p:cNvPr id="83" name="Text 22"/>
          <p:cNvSpPr/>
          <p:nvPr/>
        </p:nvSpPr>
        <p:spPr>
          <a:xfrm>
            <a:off x="9116053" y="5146121"/>
            <a:ext cx="940824" cy="293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24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8,755</a:t>
            </a:r>
            <a:endParaRPr lang="en-US" sz="2400" b="1" dirty="0"/>
          </a:p>
        </p:txBody>
      </p:sp>
      <p:sp>
        <p:nvSpPr>
          <p:cNvPr id="84" name="Shape 41"/>
          <p:cNvSpPr/>
          <p:nvPr/>
        </p:nvSpPr>
        <p:spPr>
          <a:xfrm>
            <a:off x="5602991" y="5060873"/>
            <a:ext cx="6368772" cy="41688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93871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139179" y="254314"/>
            <a:ext cx="3953708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Preprocessing Pipeline</a:t>
            </a:r>
            <a:endParaRPr lang="en-US" sz="4400" dirty="0"/>
          </a:p>
        </p:txBody>
      </p:sp>
      <p:sp>
        <p:nvSpPr>
          <p:cNvPr id="8" name="Shape 1"/>
          <p:cNvSpPr/>
          <p:nvPr/>
        </p:nvSpPr>
        <p:spPr>
          <a:xfrm>
            <a:off x="139179" y="1028389"/>
            <a:ext cx="4278720" cy="60960"/>
          </a:xfrm>
          <a:prstGeom prst="roundRect">
            <a:avLst>
              <a:gd name="adj" fmla="val 35488"/>
            </a:avLst>
          </a:prstGeom>
          <a:solidFill>
            <a:srgbClr val="1C9770"/>
          </a:solidFill>
          <a:ln/>
        </p:spPr>
      </p:sp>
      <p:sp>
        <p:nvSpPr>
          <p:cNvPr id="9" name="Shape 2"/>
          <p:cNvSpPr/>
          <p:nvPr/>
        </p:nvSpPr>
        <p:spPr>
          <a:xfrm>
            <a:off x="2160254" y="827412"/>
            <a:ext cx="288359" cy="432554"/>
          </a:xfrm>
          <a:prstGeom prst="roundRect">
            <a:avLst>
              <a:gd name="adj" fmla="val 211396"/>
            </a:avLst>
          </a:prstGeom>
          <a:solidFill>
            <a:srgbClr val="1C977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810" y="935520"/>
            <a:ext cx="172998" cy="216218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246841" y="1240558"/>
            <a:ext cx="1201775" cy="46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Automated Cleaning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246841" y="1590554"/>
            <a:ext cx="4066162" cy="9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Normalized text by removing noise, special characters, and non-Bangla scripts. Corrected common spelling variants using custom Bangla </a:t>
            </a:r>
            <a:r>
              <a:rPr lang="en-US" sz="16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tokenizers.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140118" y="4605455"/>
            <a:ext cx="4278720" cy="60960"/>
          </a:xfrm>
          <a:prstGeom prst="roundRect">
            <a:avLst>
              <a:gd name="adj" fmla="val 35488"/>
            </a:avLst>
          </a:prstGeom>
          <a:solidFill>
            <a:srgbClr val="1C9770"/>
          </a:solidFill>
          <a:ln/>
        </p:spPr>
      </p:sp>
      <p:sp>
        <p:nvSpPr>
          <p:cNvPr id="14" name="Shape 6"/>
          <p:cNvSpPr/>
          <p:nvPr/>
        </p:nvSpPr>
        <p:spPr>
          <a:xfrm>
            <a:off x="2161193" y="4404478"/>
            <a:ext cx="288359" cy="432554"/>
          </a:xfrm>
          <a:prstGeom prst="roundRect">
            <a:avLst>
              <a:gd name="adj" fmla="val 211396"/>
            </a:avLst>
          </a:prstGeom>
          <a:solidFill>
            <a:srgbClr val="1C9770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749" y="4512587"/>
            <a:ext cx="172998" cy="21621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247780" y="4816712"/>
            <a:ext cx="1201775" cy="418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Manual Review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247780" y="5166708"/>
            <a:ext cx="4066162" cy="857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Eliminated spam, emojis, and poorly structured reviews. Verified terminology using a comprehensive Bangla dictionary to ensure data integrity.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139179" y="2889887"/>
            <a:ext cx="4278720" cy="60960"/>
          </a:xfrm>
          <a:prstGeom prst="roundRect">
            <a:avLst>
              <a:gd name="adj" fmla="val 35488"/>
            </a:avLst>
          </a:prstGeom>
          <a:solidFill>
            <a:srgbClr val="1C9770"/>
          </a:solidFill>
          <a:ln/>
        </p:spPr>
      </p:sp>
      <p:sp>
        <p:nvSpPr>
          <p:cNvPr id="19" name="Shape 10"/>
          <p:cNvSpPr/>
          <p:nvPr/>
        </p:nvSpPr>
        <p:spPr>
          <a:xfrm>
            <a:off x="2160254" y="2688910"/>
            <a:ext cx="288359" cy="432554"/>
          </a:xfrm>
          <a:prstGeom prst="roundRect">
            <a:avLst>
              <a:gd name="adj" fmla="val 211396"/>
            </a:avLst>
          </a:prstGeom>
          <a:solidFill>
            <a:srgbClr val="1C977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810" y="2797019"/>
            <a:ext cx="172998" cy="21621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246841" y="3120476"/>
            <a:ext cx="1201775" cy="38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Result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246841" y="3470471"/>
            <a:ext cx="4066162" cy="78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linguistically consistent and high-quality dataset comprising 8,755 product reviews, ready for model training and evaluation.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4196062" y="6150102"/>
            <a:ext cx="7866945" cy="2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Figure </a:t>
            </a:r>
            <a:r>
              <a:rPr lang="en-US" sz="16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Data preprocessing pipeline from raw input to processed dataset</a:t>
            </a:r>
            <a:endParaRPr lang="en-US" sz="1600" b="1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7454" y="2924544"/>
            <a:ext cx="7304162" cy="309977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9688" y="1151738"/>
            <a:ext cx="7499513" cy="127029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5010293" y="2494211"/>
            <a:ext cx="6418302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6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Figure 1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</a:t>
            </a:r>
            <a:r>
              <a:rPr lang="en-US" sz="16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collection pipeline 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from online platforms to final dataset.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8915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180946" y="1635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Vocabulary Overlap</a:t>
            </a:r>
            <a:endParaRPr lang="en-US" sz="4400" dirty="0"/>
          </a:p>
        </p:txBody>
      </p:sp>
      <p:sp>
        <p:nvSpPr>
          <p:cNvPr id="12" name="Text 5"/>
          <p:cNvSpPr/>
          <p:nvPr/>
        </p:nvSpPr>
        <p:spPr>
          <a:xfrm>
            <a:off x="6297092" y="1006670"/>
            <a:ext cx="5966593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Table 3: Jaccard Similarity Coefficients (Aspects)</a:t>
            </a:r>
            <a:endParaRPr lang="en-US" sz="1750" dirty="0"/>
          </a:p>
        </p:txBody>
      </p:sp>
      <p:sp>
        <p:nvSpPr>
          <p:cNvPr id="13" name="Shape 6"/>
          <p:cNvSpPr/>
          <p:nvPr/>
        </p:nvSpPr>
        <p:spPr>
          <a:xfrm>
            <a:off x="6071338" y="1556114"/>
            <a:ext cx="5966593" cy="3543648"/>
          </a:xfrm>
          <a:prstGeom prst="roundRect">
            <a:avLst>
              <a:gd name="adj" fmla="val 7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6078279" y="1556114"/>
            <a:ext cx="5952032" cy="6376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8"/>
          <p:cNvSpPr/>
          <p:nvPr/>
        </p:nvSpPr>
        <p:spPr>
          <a:xfrm>
            <a:off x="6071338" y="1641697"/>
            <a:ext cx="75331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7325526" y="1631725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Quality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8571396" y="1631726"/>
            <a:ext cx="749678" cy="75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Service</a:t>
            </a:r>
            <a:endParaRPr lang="en-US" sz="1750" dirty="0"/>
          </a:p>
        </p:txBody>
      </p:sp>
      <p:sp>
        <p:nvSpPr>
          <p:cNvPr id="18" name="Text 11"/>
          <p:cNvSpPr/>
          <p:nvPr/>
        </p:nvSpPr>
        <p:spPr>
          <a:xfrm>
            <a:off x="9817266" y="1631725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Pricing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10705104" y="1631726"/>
            <a:ext cx="1111520" cy="75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Decoration</a:t>
            </a:r>
            <a:endParaRPr lang="en-US" sz="1750" dirty="0"/>
          </a:p>
        </p:txBody>
      </p:sp>
      <p:sp>
        <p:nvSpPr>
          <p:cNvPr id="20" name="Shape 13"/>
          <p:cNvSpPr/>
          <p:nvPr/>
        </p:nvSpPr>
        <p:spPr>
          <a:xfrm>
            <a:off x="6078279" y="2150702"/>
            <a:ext cx="5952032" cy="6779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6288643" y="2294409"/>
            <a:ext cx="75331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Quality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7312399" y="2294409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1.00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8558269" y="2294409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0.38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9804139" y="2294409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0.52</a:t>
            </a:r>
            <a:endParaRPr lang="en-US" sz="1750" dirty="0"/>
          </a:p>
        </p:txBody>
      </p:sp>
      <p:sp>
        <p:nvSpPr>
          <p:cNvPr id="25" name="Text 18"/>
          <p:cNvSpPr/>
          <p:nvPr/>
        </p:nvSpPr>
        <p:spPr>
          <a:xfrm>
            <a:off x="11050179" y="2294409"/>
            <a:ext cx="75331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0.45</a:t>
            </a:r>
            <a:endParaRPr lang="en-US" sz="1750" dirty="0"/>
          </a:p>
        </p:txBody>
      </p:sp>
      <p:sp>
        <p:nvSpPr>
          <p:cNvPr id="26" name="Shape 19"/>
          <p:cNvSpPr/>
          <p:nvPr/>
        </p:nvSpPr>
        <p:spPr>
          <a:xfrm>
            <a:off x="6078279" y="2801020"/>
            <a:ext cx="5952032" cy="10563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6288643" y="2944730"/>
            <a:ext cx="753318" cy="75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Service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7312399" y="2944729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</a:t>
            </a:r>
            <a:endParaRPr lang="en-US" sz="1750" dirty="0"/>
          </a:p>
        </p:txBody>
      </p:sp>
      <p:sp>
        <p:nvSpPr>
          <p:cNvPr id="29" name="Text 22"/>
          <p:cNvSpPr/>
          <p:nvPr/>
        </p:nvSpPr>
        <p:spPr>
          <a:xfrm>
            <a:off x="8558269" y="2944729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1.00</a:t>
            </a:r>
            <a:endParaRPr lang="en-US" sz="1750" dirty="0"/>
          </a:p>
        </p:txBody>
      </p:sp>
      <p:sp>
        <p:nvSpPr>
          <p:cNvPr id="30" name="Text 23"/>
          <p:cNvSpPr/>
          <p:nvPr/>
        </p:nvSpPr>
        <p:spPr>
          <a:xfrm>
            <a:off x="9804139" y="2944729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0.41</a:t>
            </a:r>
            <a:endParaRPr lang="en-US" sz="1750" dirty="0"/>
          </a:p>
        </p:txBody>
      </p:sp>
      <p:sp>
        <p:nvSpPr>
          <p:cNvPr id="31" name="Text 24"/>
          <p:cNvSpPr/>
          <p:nvPr/>
        </p:nvSpPr>
        <p:spPr>
          <a:xfrm>
            <a:off x="11050179" y="2944729"/>
            <a:ext cx="75331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0.58</a:t>
            </a:r>
            <a:endParaRPr lang="en-US" sz="1750" dirty="0"/>
          </a:p>
        </p:txBody>
      </p:sp>
      <p:sp>
        <p:nvSpPr>
          <p:cNvPr id="32" name="Shape 25"/>
          <p:cNvSpPr/>
          <p:nvPr/>
        </p:nvSpPr>
        <p:spPr>
          <a:xfrm>
            <a:off x="6078279" y="3814243"/>
            <a:ext cx="5952032" cy="67797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6288643" y="3957951"/>
            <a:ext cx="75331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Pricing</a:t>
            </a:r>
            <a:endParaRPr lang="en-US" sz="1750" dirty="0"/>
          </a:p>
        </p:txBody>
      </p:sp>
      <p:sp>
        <p:nvSpPr>
          <p:cNvPr id="34" name="Text 27"/>
          <p:cNvSpPr/>
          <p:nvPr/>
        </p:nvSpPr>
        <p:spPr>
          <a:xfrm>
            <a:off x="7312399" y="3957951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</a:t>
            </a:r>
            <a:endParaRPr lang="en-US" sz="1750" dirty="0"/>
          </a:p>
        </p:txBody>
      </p:sp>
      <p:sp>
        <p:nvSpPr>
          <p:cNvPr id="35" name="Text 28"/>
          <p:cNvSpPr/>
          <p:nvPr/>
        </p:nvSpPr>
        <p:spPr>
          <a:xfrm>
            <a:off x="8558269" y="3957951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</a:t>
            </a:r>
            <a:endParaRPr lang="en-US" sz="1750" dirty="0"/>
          </a:p>
        </p:txBody>
      </p:sp>
      <p:sp>
        <p:nvSpPr>
          <p:cNvPr id="36" name="Text 29"/>
          <p:cNvSpPr/>
          <p:nvPr/>
        </p:nvSpPr>
        <p:spPr>
          <a:xfrm>
            <a:off x="9804139" y="3957951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1.00</a:t>
            </a:r>
            <a:endParaRPr lang="en-US" sz="1750" dirty="0"/>
          </a:p>
        </p:txBody>
      </p:sp>
      <p:sp>
        <p:nvSpPr>
          <p:cNvPr id="37" name="Text 30"/>
          <p:cNvSpPr/>
          <p:nvPr/>
        </p:nvSpPr>
        <p:spPr>
          <a:xfrm>
            <a:off x="11050179" y="3957951"/>
            <a:ext cx="75331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0.50</a:t>
            </a:r>
            <a:endParaRPr lang="en-US" sz="1750" dirty="0"/>
          </a:p>
        </p:txBody>
      </p:sp>
      <p:sp>
        <p:nvSpPr>
          <p:cNvPr id="38" name="Shape 31"/>
          <p:cNvSpPr/>
          <p:nvPr/>
        </p:nvSpPr>
        <p:spPr>
          <a:xfrm>
            <a:off x="6078279" y="4464562"/>
            <a:ext cx="5952032" cy="6352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6127257" y="4606701"/>
            <a:ext cx="1101673" cy="75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Decoration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7312399" y="4608270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</a:t>
            </a:r>
            <a:endParaRPr lang="en-US" sz="1750" dirty="0"/>
          </a:p>
        </p:txBody>
      </p:sp>
      <p:sp>
        <p:nvSpPr>
          <p:cNvPr id="41" name="Text 34"/>
          <p:cNvSpPr/>
          <p:nvPr/>
        </p:nvSpPr>
        <p:spPr>
          <a:xfrm>
            <a:off x="8558269" y="4608270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</a:t>
            </a:r>
            <a:endParaRPr lang="en-US" sz="1750" dirty="0"/>
          </a:p>
        </p:txBody>
      </p:sp>
      <p:sp>
        <p:nvSpPr>
          <p:cNvPr id="42" name="Text 35"/>
          <p:cNvSpPr/>
          <p:nvPr/>
        </p:nvSpPr>
        <p:spPr>
          <a:xfrm>
            <a:off x="9804139" y="4608270"/>
            <a:ext cx="74967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</a:t>
            </a:r>
            <a:endParaRPr lang="en-US" sz="1750" dirty="0"/>
          </a:p>
        </p:txBody>
      </p:sp>
      <p:sp>
        <p:nvSpPr>
          <p:cNvPr id="43" name="Text 36"/>
          <p:cNvSpPr/>
          <p:nvPr/>
        </p:nvSpPr>
        <p:spPr>
          <a:xfrm>
            <a:off x="11050179" y="4608270"/>
            <a:ext cx="753318" cy="37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1.00</a:t>
            </a:r>
            <a:endParaRPr lang="en-US" sz="1750" dirty="0"/>
          </a:p>
        </p:txBody>
      </p:sp>
      <p:sp>
        <p:nvSpPr>
          <p:cNvPr id="44" name="Text 1"/>
          <p:cNvSpPr/>
          <p:nvPr/>
        </p:nvSpPr>
        <p:spPr>
          <a:xfrm>
            <a:off x="180947" y="946493"/>
            <a:ext cx="57626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/>
              <a:t>Vocabulary is rich and varied across aspects.</a:t>
            </a:r>
          </a:p>
        </p:txBody>
      </p:sp>
      <p:sp>
        <p:nvSpPr>
          <p:cNvPr id="45" name="Text 2"/>
          <p:cNvSpPr/>
          <p:nvPr/>
        </p:nvSpPr>
        <p:spPr>
          <a:xfrm>
            <a:off x="180947" y="1388692"/>
            <a:ext cx="57626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/>
              <a:t>Quality reviews possess the largest lexicon (more unique words).</a:t>
            </a:r>
          </a:p>
        </p:txBody>
      </p:sp>
      <p:sp>
        <p:nvSpPr>
          <p:cNvPr id="46" name="Text 3"/>
          <p:cNvSpPr/>
          <p:nvPr/>
        </p:nvSpPr>
        <p:spPr>
          <a:xfrm>
            <a:off x="180947" y="2193792"/>
            <a:ext cx="57626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/>
              <a:t>Semantic overlap between aspects quantified by Jaccard similarity.</a:t>
            </a:r>
          </a:p>
        </p:txBody>
      </p:sp>
      <p:sp>
        <p:nvSpPr>
          <p:cNvPr id="47" name="Text 4"/>
          <p:cNvSpPr/>
          <p:nvPr/>
        </p:nvSpPr>
        <p:spPr>
          <a:xfrm>
            <a:off x="180947" y="3123670"/>
            <a:ext cx="57626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400" dirty="0"/>
              <a:t>For example, Pricing and Quality aspects share a 0.52 Jaccard similarity.</a:t>
            </a:r>
          </a:p>
        </p:txBody>
      </p:sp>
    </p:spTree>
    <p:extLst>
      <p:ext uri="{BB962C8B-B14F-4D97-AF65-F5344CB8AC3E}">
        <p14:creationId xmlns:p14="http://schemas.microsoft.com/office/powerpoint/2010/main" val="162339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181912" y="228525"/>
            <a:ext cx="6706433" cy="55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430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Proposed </a:t>
            </a:r>
            <a:r>
              <a:rPr lang="en-US" sz="4400" dirty="0">
                <a:solidFill>
                  <a:srgbClr val="FFA44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BanglaSentNet</a:t>
            </a: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Model</a:t>
            </a:r>
            <a:endParaRPr lang="en-US" sz="4400" dirty="0"/>
          </a:p>
        </p:txBody>
      </p:sp>
      <p:sp>
        <p:nvSpPr>
          <p:cNvPr id="10" name="Text 2"/>
          <p:cNvSpPr/>
          <p:nvPr/>
        </p:nvSpPr>
        <p:spPr>
          <a:xfrm>
            <a:off x="7101191" y="1270313"/>
            <a:ext cx="6483191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Ensemble of four neural models: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7101191" y="1710963"/>
            <a:ext cx="6483191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BanglaBERT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12-layer transformer (768-dim)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7101191" y="2054696"/>
            <a:ext cx="6483191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BiLSTM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2 layers, 128x2 units (bidirectional context)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7101191" y="2398430"/>
            <a:ext cx="6483191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LSTM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2 layers, 256 units (sequential dependencies)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7101191" y="2742163"/>
            <a:ext cx="6483191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GRU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2 layers, 200 units (efficient gating)</a:t>
            </a:r>
            <a:endParaRPr lang="en-US" sz="16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06" y="779310"/>
            <a:ext cx="6240885" cy="530021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0445" y="6073503"/>
            <a:ext cx="7866945" cy="2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Figure 3: Proposed Ensemble Framework for Bangla Sentiment Analysis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4708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1"/>
          <p:cNvSpPr/>
          <p:nvPr/>
        </p:nvSpPr>
        <p:spPr>
          <a:xfrm>
            <a:off x="874594" y="3927930"/>
            <a:ext cx="4669276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6" name="Text 0"/>
          <p:cNvSpPr/>
          <p:nvPr/>
        </p:nvSpPr>
        <p:spPr>
          <a:xfrm>
            <a:off x="323477" y="2269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Embedding </a:t>
            </a: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Layer</a:t>
            </a:r>
            <a:endParaRPr lang="en-US" sz="4400" dirty="0"/>
          </a:p>
        </p:txBody>
      </p:sp>
      <p:sp>
        <p:nvSpPr>
          <p:cNvPr id="37" name="Shape 1"/>
          <p:cNvSpPr/>
          <p:nvPr/>
        </p:nvSpPr>
        <p:spPr>
          <a:xfrm>
            <a:off x="874594" y="1598413"/>
            <a:ext cx="4669276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38" name="Shape 2"/>
          <p:cNvSpPr/>
          <p:nvPr/>
        </p:nvSpPr>
        <p:spPr>
          <a:xfrm>
            <a:off x="2869070" y="1285475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sp>
        <p:nvSpPr>
          <p:cNvPr id="40" name="Text 3"/>
          <p:cNvSpPr/>
          <p:nvPr/>
        </p:nvSpPr>
        <p:spPr>
          <a:xfrm>
            <a:off x="874594" y="2120787"/>
            <a:ext cx="30801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Static Word Embeddings</a:t>
            </a:r>
            <a:endParaRPr lang="en-US" sz="2200" dirty="0"/>
          </a:p>
        </p:txBody>
      </p:sp>
      <p:sp>
        <p:nvSpPr>
          <p:cNvPr id="41" name="Text 4"/>
          <p:cNvSpPr/>
          <p:nvPr/>
        </p:nvSpPr>
        <p:spPr>
          <a:xfrm>
            <a:off x="874594" y="2611206"/>
            <a:ext cx="53604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GloVe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(300-d) trained on 2.5B Bangla tokens for semantic content.</a:t>
            </a:r>
            <a:endParaRPr lang="en-US" sz="1750" dirty="0"/>
          </a:p>
        </p:txBody>
      </p:sp>
      <p:sp>
        <p:nvSpPr>
          <p:cNvPr id="45" name="Text 7"/>
          <p:cNvSpPr/>
          <p:nvPr/>
        </p:nvSpPr>
        <p:spPr>
          <a:xfrm>
            <a:off x="6484246" y="2127438"/>
            <a:ext cx="24095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FastText Embeddings</a:t>
            </a:r>
            <a:endParaRPr lang="en-US" sz="2200" dirty="0"/>
          </a:p>
        </p:txBody>
      </p:sp>
      <p:sp>
        <p:nvSpPr>
          <p:cNvPr id="46" name="Text 8"/>
          <p:cNvSpPr/>
          <p:nvPr/>
        </p:nvSpPr>
        <p:spPr>
          <a:xfrm>
            <a:off x="6484247" y="2617857"/>
            <a:ext cx="48695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Captures subword information for morphological details.</a:t>
            </a:r>
            <a:endParaRPr lang="en-US" sz="1750" dirty="0"/>
          </a:p>
        </p:txBody>
      </p:sp>
      <p:sp>
        <p:nvSpPr>
          <p:cNvPr id="53" name="Shape 1"/>
          <p:cNvSpPr/>
          <p:nvPr/>
        </p:nvSpPr>
        <p:spPr>
          <a:xfrm>
            <a:off x="6484246" y="1598413"/>
            <a:ext cx="4669276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43" name="Shape 6"/>
          <p:cNvSpPr/>
          <p:nvPr/>
        </p:nvSpPr>
        <p:spPr>
          <a:xfrm>
            <a:off x="8478723" y="128873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796" y="1458871"/>
            <a:ext cx="272177" cy="340162"/>
          </a:xfrm>
          <a:prstGeom prst="rect">
            <a:avLst/>
          </a:prstGeom>
        </p:spPr>
      </p:pic>
      <p:sp>
        <p:nvSpPr>
          <p:cNvPr id="55" name="Shape 2"/>
          <p:cNvSpPr/>
          <p:nvPr/>
        </p:nvSpPr>
        <p:spPr>
          <a:xfrm>
            <a:off x="2869071" y="36486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144" y="3818810"/>
            <a:ext cx="272177" cy="340162"/>
          </a:xfrm>
          <a:prstGeom prst="rect">
            <a:avLst/>
          </a:prstGeom>
        </p:spPr>
      </p:pic>
      <p:sp>
        <p:nvSpPr>
          <p:cNvPr id="57" name="Text 3"/>
          <p:cNvSpPr/>
          <p:nvPr/>
        </p:nvSpPr>
        <p:spPr>
          <a:xfrm>
            <a:off x="874594" y="4528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Dual Embeddings</a:t>
            </a:r>
            <a:endParaRPr lang="en-US" sz="2200" dirty="0"/>
          </a:p>
        </p:txBody>
      </p:sp>
      <p:sp>
        <p:nvSpPr>
          <p:cNvPr id="58" name="Text 4"/>
          <p:cNvSpPr/>
          <p:nvPr/>
        </p:nvSpPr>
        <p:spPr>
          <a:xfrm>
            <a:off x="874594" y="501873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Combines static word embeddings with FastText for comprehensive semantic capture.</a:t>
            </a:r>
            <a:endParaRPr lang="en-US" sz="1750" dirty="0"/>
          </a:p>
        </p:txBody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4134" y="1419322"/>
            <a:ext cx="343105" cy="428807"/>
          </a:xfrm>
          <a:prstGeom prst="rect">
            <a:avLst/>
          </a:prstGeom>
        </p:spPr>
      </p:pic>
      <p:sp>
        <p:nvSpPr>
          <p:cNvPr id="20" name="Shape 1"/>
          <p:cNvSpPr/>
          <p:nvPr/>
        </p:nvSpPr>
        <p:spPr>
          <a:xfrm>
            <a:off x="6484246" y="3927930"/>
            <a:ext cx="4669276" cy="12192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21" name="Shape 2"/>
          <p:cNvSpPr/>
          <p:nvPr/>
        </p:nvSpPr>
        <p:spPr>
          <a:xfrm>
            <a:off x="8478723" y="36486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C9770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796" y="3818810"/>
            <a:ext cx="272177" cy="340162"/>
          </a:xfrm>
          <a:prstGeom prst="rect">
            <a:avLst/>
          </a:prstGeom>
        </p:spPr>
      </p:pic>
      <p:sp>
        <p:nvSpPr>
          <p:cNvPr id="23" name="Text 3"/>
          <p:cNvSpPr/>
          <p:nvPr/>
        </p:nvSpPr>
        <p:spPr>
          <a:xfrm>
            <a:off x="6484246" y="4528321"/>
            <a:ext cx="51669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 err="1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BanglaBERT</a:t>
            </a: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</a:t>
            </a:r>
            <a:r>
              <a:rPr lang="en-US" sz="2200" dirty="0" smtClean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Contextual </a:t>
            </a:r>
            <a:r>
              <a:rPr lang="en-US" sz="2200" dirty="0" err="1" smtClean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Embeddings</a:t>
            </a:r>
            <a:endParaRPr lang="en-US" sz="2200" dirty="0"/>
          </a:p>
        </p:txBody>
      </p:sp>
      <p:sp>
        <p:nvSpPr>
          <p:cNvPr id="24" name="Text 4"/>
          <p:cNvSpPr/>
          <p:nvPr/>
        </p:nvSpPr>
        <p:spPr>
          <a:xfrm>
            <a:off x="6484246" y="501873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capture dynamic meanings of words based on sentence context.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65406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204281" y="276887"/>
            <a:ext cx="61551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Training and Ensemble</a:t>
            </a:r>
            <a:endParaRPr lang="en-US" sz="44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687" y="1527243"/>
            <a:ext cx="4592635" cy="4592635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204281" y="1182587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Individual Training</a:t>
            </a: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BanglaBERT with AdamW (lr=2e-5), RNNs with Adam (lr=1e-3).</a:t>
            </a:r>
            <a:endParaRPr lang="en-US" sz="2400" dirty="0"/>
          </a:p>
        </p:txBody>
      </p:sp>
      <p:sp>
        <p:nvSpPr>
          <p:cNvPr id="14" name="Text 2"/>
          <p:cNvSpPr/>
          <p:nvPr/>
        </p:nvSpPr>
        <p:spPr>
          <a:xfrm>
            <a:off x="204281" y="2163070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Adaptive Weighted Voting</a:t>
            </a: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Weights learned via gradient descent on validation data.</a:t>
            </a:r>
            <a:endParaRPr lang="en-US" sz="2400" dirty="0"/>
          </a:p>
        </p:txBody>
      </p:sp>
      <p:sp>
        <p:nvSpPr>
          <p:cNvPr id="15" name="Text 3"/>
          <p:cNvSpPr/>
          <p:nvPr/>
        </p:nvSpPr>
        <p:spPr>
          <a:xfrm>
            <a:off x="204281" y="3143553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Dynamic Weight Tuning</a:t>
            </a: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Weights adapt based on review length and complexity.</a:t>
            </a:r>
            <a:endParaRPr lang="en-US" sz="2400" dirty="0"/>
          </a:p>
        </p:txBody>
      </p:sp>
      <p:sp>
        <p:nvSpPr>
          <p:cNvPr id="16" name="Text 4"/>
          <p:cNvSpPr/>
          <p:nvPr/>
        </p:nvSpPr>
        <p:spPr>
          <a:xfrm>
            <a:off x="204281" y="412403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Decision</a:t>
            </a:r>
            <a:r>
              <a:rPr lang="en-US" sz="2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Softmax for multiclass, calibrated threshold (0.5) for binary.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030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103126" y="1366785"/>
            <a:ext cx="63269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Experimental Setup</a:t>
            </a:r>
            <a:endParaRPr lang="en-US" sz="4400" dirty="0"/>
          </a:p>
        </p:txBody>
      </p:sp>
      <p:sp>
        <p:nvSpPr>
          <p:cNvPr id="9" name="Text 1"/>
          <p:cNvSpPr/>
          <p:nvPr/>
        </p:nvSpPr>
        <p:spPr>
          <a:xfrm>
            <a:off x="255964" y="26393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Dataset Split:</a:t>
            </a:r>
          </a:p>
        </p:txBody>
      </p:sp>
      <p:sp>
        <p:nvSpPr>
          <p:cNvPr id="10" name="Text 2"/>
          <p:cNvSpPr/>
          <p:nvPr/>
        </p:nvSpPr>
        <p:spPr>
          <a:xfrm>
            <a:off x="255963" y="3129776"/>
            <a:ext cx="367740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 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Training: 70% (6,128 reviews)</a:t>
            </a:r>
          </a:p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 Validation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15% (1,313 reviews)  </a:t>
            </a:r>
            <a:endParaRPr lang="en-US" dirty="0" smtClean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 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Test: 15% (1,314 reviews)</a:t>
            </a:r>
            <a:endParaRPr lang="en-US" dirty="0"/>
          </a:p>
        </p:txBody>
      </p:sp>
      <p:sp>
        <p:nvSpPr>
          <p:cNvPr id="12" name="Text 3"/>
          <p:cNvSpPr/>
          <p:nvPr/>
        </p:nvSpPr>
        <p:spPr>
          <a:xfrm>
            <a:off x="4078588" y="2661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Evaluation Metrics:</a:t>
            </a:r>
            <a:endParaRPr lang="en-US" sz="2400" dirty="0"/>
          </a:p>
        </p:txBody>
      </p:sp>
      <p:sp>
        <p:nvSpPr>
          <p:cNvPr id="13" name="Text 4"/>
          <p:cNvSpPr/>
          <p:nvPr/>
        </p:nvSpPr>
        <p:spPr>
          <a:xfrm>
            <a:off x="4078587" y="3152200"/>
            <a:ext cx="393488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 Accuracy, Precision, Recall, F1-Score</a:t>
            </a:r>
          </a:p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 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Macro-average for balanced </a:t>
            </a:r>
            <a:r>
              <a:rPr lang="en-US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multi-  label 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evaluation</a:t>
            </a:r>
            <a:endParaRPr lang="en-US" dirty="0"/>
          </a:p>
        </p:txBody>
      </p:sp>
      <p:sp>
        <p:nvSpPr>
          <p:cNvPr id="15" name="Text 5"/>
          <p:cNvSpPr/>
          <p:nvPr/>
        </p:nvSpPr>
        <p:spPr>
          <a:xfrm>
            <a:off x="9000855" y="2633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Implementation:</a:t>
            </a:r>
            <a:endParaRPr lang="en-US" sz="2400" dirty="0"/>
          </a:p>
        </p:txBody>
      </p:sp>
      <p:sp>
        <p:nvSpPr>
          <p:cNvPr id="16" name="Text 6"/>
          <p:cNvSpPr/>
          <p:nvPr/>
        </p:nvSpPr>
        <p:spPr>
          <a:xfrm>
            <a:off x="9000854" y="3124257"/>
            <a:ext cx="3224464" cy="165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 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Python 3.8, </a:t>
            </a:r>
            <a:r>
              <a:rPr lang="en-US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TensorFlow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2.4</a:t>
            </a:r>
          </a:p>
          <a:p>
            <a:pPr>
              <a:lnSpc>
                <a:spcPts val="2850"/>
              </a:lnSpc>
            </a:pPr>
            <a:r>
              <a:rPr lang="en-US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- 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Individual model training followed by ensemble optimization</a:t>
            </a:r>
            <a:endParaRPr lang="en-US" dirty="0"/>
          </a:p>
        </p:txBody>
      </p:sp>
      <p:sp>
        <p:nvSpPr>
          <p:cNvPr id="17" name="Shape 1"/>
          <p:cNvSpPr/>
          <p:nvPr/>
        </p:nvSpPr>
        <p:spPr>
          <a:xfrm rot="5400000">
            <a:off x="2518621" y="3485572"/>
            <a:ext cx="2132544" cy="56324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8" name="Shape 1"/>
          <p:cNvSpPr/>
          <p:nvPr/>
        </p:nvSpPr>
        <p:spPr>
          <a:xfrm rot="5400000">
            <a:off x="7441810" y="3648330"/>
            <a:ext cx="2132544" cy="56324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</p:spTree>
    <p:extLst>
      <p:ext uri="{BB962C8B-B14F-4D97-AF65-F5344CB8AC3E}">
        <p14:creationId xmlns:p14="http://schemas.microsoft.com/office/powerpoint/2010/main" val="343047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26" name="Picture 2" descr="Accuracy scores of baseline models with ML (dark slate teal-blue) versus DL (peach) colo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219" y="857063"/>
            <a:ext cx="7939559" cy="5293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/>
          <p:cNvSpPr/>
          <p:nvPr/>
        </p:nvSpPr>
        <p:spPr>
          <a:xfrm>
            <a:off x="100453" y="307423"/>
            <a:ext cx="582156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Baseline Model Performance</a:t>
            </a:r>
            <a:endParaRPr lang="en-US" sz="4400" dirty="0"/>
          </a:p>
        </p:txBody>
      </p:sp>
      <p:sp>
        <p:nvSpPr>
          <p:cNvPr id="9" name="Text 13"/>
          <p:cNvSpPr/>
          <p:nvPr/>
        </p:nvSpPr>
        <p:spPr>
          <a:xfrm>
            <a:off x="2162527" y="6150102"/>
            <a:ext cx="7866945" cy="2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Figure </a:t>
            </a:r>
            <a:r>
              <a:rPr lang="en-US" sz="16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Performance Comparison of Baseline Models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1122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2050" name="Picture 2" descr="Performance Comparison of Final Mod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8862" y="816895"/>
            <a:ext cx="7999809" cy="533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0"/>
          <p:cNvSpPr/>
          <p:nvPr/>
        </p:nvSpPr>
        <p:spPr>
          <a:xfrm>
            <a:off x="313134" y="299255"/>
            <a:ext cx="578286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400" dirty="0">
                <a:solidFill>
                  <a:srgbClr val="5E98F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BanglaSentNet</a:t>
            </a: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Performance</a:t>
            </a:r>
            <a:endParaRPr lang="en-US" sz="4400" dirty="0"/>
          </a:p>
        </p:txBody>
      </p:sp>
      <p:sp>
        <p:nvSpPr>
          <p:cNvPr id="9" name="Text 13"/>
          <p:cNvSpPr/>
          <p:nvPr/>
        </p:nvSpPr>
        <p:spPr>
          <a:xfrm>
            <a:off x="2048862" y="6176795"/>
            <a:ext cx="7866945" cy="2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Figure 5</a:t>
            </a:r>
            <a:r>
              <a:rPr lang="en-US" sz="16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Performance Comparison of Final Models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4001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166890" y="390847"/>
            <a:ext cx="4495596" cy="707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Ablation Study</a:t>
            </a:r>
            <a:endParaRPr lang="en-US" sz="4400" dirty="0"/>
          </a:p>
        </p:txBody>
      </p:sp>
      <p:sp>
        <p:nvSpPr>
          <p:cNvPr id="8" name="Shape 1"/>
          <p:cNvSpPr/>
          <p:nvPr/>
        </p:nvSpPr>
        <p:spPr>
          <a:xfrm>
            <a:off x="239314" y="1955260"/>
            <a:ext cx="3326837" cy="1364939"/>
          </a:xfrm>
          <a:prstGeom prst="roundRect">
            <a:avLst>
              <a:gd name="adj" fmla="val 10695"/>
            </a:avLst>
          </a:prstGeom>
          <a:noFill/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208834" y="1955260"/>
            <a:ext cx="96657" cy="1364939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0" name="Text 3"/>
          <p:cNvSpPr/>
          <p:nvPr/>
        </p:nvSpPr>
        <p:spPr>
          <a:xfrm>
            <a:off x="588049" y="2210352"/>
            <a:ext cx="2247750" cy="35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Full Ensemble</a:t>
            </a:r>
            <a:endParaRPr lang="en-US" sz="2200" dirty="0"/>
          </a:p>
        </p:txBody>
      </p:sp>
      <p:sp>
        <p:nvSpPr>
          <p:cNvPr id="11" name="Text 4"/>
          <p:cNvSpPr/>
          <p:nvPr/>
        </p:nvSpPr>
        <p:spPr>
          <a:xfrm>
            <a:off x="588048" y="2700791"/>
            <a:ext cx="2846383" cy="36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F1: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0.88</a:t>
            </a:r>
            <a:endParaRPr lang="en-US" sz="1750" dirty="0"/>
          </a:p>
        </p:txBody>
      </p:sp>
      <p:sp>
        <p:nvSpPr>
          <p:cNvPr id="12" name="Shape 5"/>
          <p:cNvSpPr/>
          <p:nvPr/>
        </p:nvSpPr>
        <p:spPr>
          <a:xfrm>
            <a:off x="4131098" y="1955260"/>
            <a:ext cx="3326837" cy="1364939"/>
          </a:xfrm>
          <a:prstGeom prst="roundRect">
            <a:avLst>
              <a:gd name="adj" fmla="val 10695"/>
            </a:avLst>
          </a:prstGeom>
          <a:noFill/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4100618" y="1955260"/>
            <a:ext cx="96657" cy="1364939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4" name="Text 7"/>
          <p:cNvSpPr/>
          <p:nvPr/>
        </p:nvSpPr>
        <p:spPr>
          <a:xfrm>
            <a:off x="4479833" y="2210352"/>
            <a:ext cx="2247750" cy="35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Without BanglaBERT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4479832" y="2700791"/>
            <a:ext cx="2846383" cy="36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F1 drops to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0.75</a:t>
            </a:r>
            <a:endParaRPr lang="en-US" sz="1750" dirty="0"/>
          </a:p>
        </p:txBody>
      </p:sp>
      <p:sp>
        <p:nvSpPr>
          <p:cNvPr id="16" name="Shape 9"/>
          <p:cNvSpPr/>
          <p:nvPr/>
        </p:nvSpPr>
        <p:spPr>
          <a:xfrm>
            <a:off x="8026962" y="1942183"/>
            <a:ext cx="3326837" cy="1364939"/>
          </a:xfrm>
          <a:prstGeom prst="roundRect">
            <a:avLst>
              <a:gd name="adj" fmla="val 10695"/>
            </a:avLst>
          </a:prstGeom>
          <a:noFill/>
          <a:ln w="30480">
            <a:solidFill>
              <a:srgbClr val="D8D4D4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7996482" y="1942183"/>
            <a:ext cx="96657" cy="1364939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18" name="Text 11"/>
          <p:cNvSpPr/>
          <p:nvPr/>
        </p:nvSpPr>
        <p:spPr>
          <a:xfrm>
            <a:off x="8375698" y="2197275"/>
            <a:ext cx="2247750" cy="35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Without BiLSTM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8375697" y="2687714"/>
            <a:ext cx="2846383" cy="36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F1 drops to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0.79</a:t>
            </a:r>
            <a:endParaRPr lang="en-US" sz="1750" dirty="0"/>
          </a:p>
        </p:txBody>
      </p:sp>
      <p:sp>
        <p:nvSpPr>
          <p:cNvPr id="20" name="Shape 13"/>
          <p:cNvSpPr/>
          <p:nvPr/>
        </p:nvSpPr>
        <p:spPr>
          <a:xfrm>
            <a:off x="239313" y="3549983"/>
            <a:ext cx="5026561" cy="1364939"/>
          </a:xfrm>
          <a:prstGeom prst="roundRect">
            <a:avLst>
              <a:gd name="adj" fmla="val 10695"/>
            </a:avLst>
          </a:prstGeom>
          <a:noFill/>
          <a:ln w="30480">
            <a:solidFill>
              <a:srgbClr val="D8D4D4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208834" y="3549983"/>
            <a:ext cx="96657" cy="1364939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22" name="Text 15"/>
          <p:cNvSpPr/>
          <p:nvPr/>
        </p:nvSpPr>
        <p:spPr>
          <a:xfrm>
            <a:off x="588049" y="3805075"/>
            <a:ext cx="2247750" cy="35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Without LSTM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588048" y="4295514"/>
            <a:ext cx="4599710" cy="36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F1 drops to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0.81</a:t>
            </a:r>
            <a:endParaRPr lang="en-US" sz="1750" dirty="0"/>
          </a:p>
        </p:txBody>
      </p:sp>
      <p:sp>
        <p:nvSpPr>
          <p:cNvPr id="24" name="Shape 17"/>
          <p:cNvSpPr/>
          <p:nvPr/>
        </p:nvSpPr>
        <p:spPr>
          <a:xfrm>
            <a:off x="5835615" y="3535552"/>
            <a:ext cx="5518184" cy="1364939"/>
          </a:xfrm>
          <a:prstGeom prst="roundRect">
            <a:avLst>
              <a:gd name="adj" fmla="val 10695"/>
            </a:avLst>
          </a:prstGeom>
          <a:noFill/>
          <a:ln w="30480">
            <a:solidFill>
              <a:srgbClr val="D8D4D4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805134" y="3535552"/>
            <a:ext cx="96657" cy="1364939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</p:sp>
      <p:sp>
        <p:nvSpPr>
          <p:cNvPr id="26" name="Text 19"/>
          <p:cNvSpPr/>
          <p:nvPr/>
        </p:nvSpPr>
        <p:spPr>
          <a:xfrm>
            <a:off x="6184350" y="3790644"/>
            <a:ext cx="2247750" cy="35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Without GRU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6184349" y="4281083"/>
            <a:ext cx="4599710" cy="36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F1 drops to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0.78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239315" y="5170861"/>
            <a:ext cx="10340238" cy="36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Removing any component degrades performance, highlighting the value of each model.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85904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122582" y="1113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Error Analysis</a:t>
            </a:r>
            <a:endParaRPr lang="en-US" sz="4400" dirty="0"/>
          </a:p>
        </p:txBody>
      </p:sp>
      <p:sp>
        <p:nvSpPr>
          <p:cNvPr id="8" name="Text 1"/>
          <p:cNvSpPr/>
          <p:nvPr/>
        </p:nvSpPr>
        <p:spPr>
          <a:xfrm>
            <a:off x="118849" y="797890"/>
            <a:ext cx="63560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Major Error Types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Complex negation, sarcasm, implicit sentiment, spelling variations, context-dependent polarity.</a:t>
            </a:r>
            <a:endParaRPr lang="en-US" dirty="0"/>
          </a:p>
        </p:txBody>
      </p:sp>
      <p:sp>
        <p:nvSpPr>
          <p:cNvPr id="9" name="Text 2"/>
          <p:cNvSpPr/>
          <p:nvPr/>
        </p:nvSpPr>
        <p:spPr>
          <a:xfrm>
            <a:off x="6630386" y="797889"/>
            <a:ext cx="53346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Most Frequent Error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Context-dependent polarity (same term, different sentiment).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832" y="1506669"/>
            <a:ext cx="7976679" cy="4653201"/>
          </a:xfrm>
          <a:prstGeom prst="rect">
            <a:avLst/>
          </a:prstGeom>
        </p:spPr>
      </p:pic>
      <p:sp>
        <p:nvSpPr>
          <p:cNvPr id="13" name="Text 13"/>
          <p:cNvSpPr/>
          <p:nvPr/>
        </p:nvSpPr>
        <p:spPr>
          <a:xfrm>
            <a:off x="2162527" y="6166975"/>
            <a:ext cx="7866945" cy="2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Figure </a:t>
            </a:r>
            <a:r>
              <a:rPr lang="en-US" sz="1600" b="1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Distribution of Error Types Across Product Categories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03540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 0"/>
          <p:cNvSpPr/>
          <p:nvPr/>
        </p:nvSpPr>
        <p:spPr>
          <a:xfrm>
            <a:off x="365773" y="1924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Confusion Matrix</a:t>
            </a:r>
            <a:endParaRPr lang="en-US" sz="4400" dirty="0"/>
          </a:p>
        </p:txBody>
      </p:sp>
      <p:sp>
        <p:nvSpPr>
          <p:cNvPr id="9" name="Text 1"/>
          <p:cNvSpPr/>
          <p:nvPr/>
        </p:nvSpPr>
        <p:spPr>
          <a:xfrm>
            <a:off x="365773" y="901214"/>
            <a:ext cx="6959155" cy="327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Most positives (600) and negatives (450) correctly </a:t>
            </a:r>
            <a:endParaRPr lang="en-US" sz="1750" dirty="0" smtClean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detected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2"/>
          <p:cNvSpPr/>
          <p:nvPr/>
        </p:nvSpPr>
        <p:spPr>
          <a:xfrm>
            <a:off x="365773" y="1654699"/>
            <a:ext cx="5461095" cy="417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Neutral sentiment is the hardest (263 correct), often confused as positive or negative.</a:t>
            </a:r>
            <a:endParaRPr lang="en-US" sz="1750" dirty="0"/>
          </a:p>
        </p:txBody>
      </p:sp>
      <p:sp>
        <p:nvSpPr>
          <p:cNvPr id="11" name="Text 3"/>
          <p:cNvSpPr/>
          <p:nvPr/>
        </p:nvSpPr>
        <p:spPr>
          <a:xfrm>
            <a:off x="365773" y="2498422"/>
            <a:ext cx="9498074" cy="271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Typical in sentiment tasks due to implicit tones.</a:t>
            </a:r>
            <a:endParaRPr lang="en-US" sz="17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575" y="1001949"/>
            <a:ext cx="6442745" cy="5106900"/>
          </a:xfrm>
          <a:prstGeom prst="rect">
            <a:avLst/>
          </a:prstGeom>
        </p:spPr>
      </p:pic>
      <p:sp>
        <p:nvSpPr>
          <p:cNvPr id="13" name="Text 13"/>
          <p:cNvSpPr/>
          <p:nvPr/>
        </p:nvSpPr>
        <p:spPr>
          <a:xfrm>
            <a:off x="5102474" y="6175078"/>
            <a:ext cx="7866945" cy="2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Figure 7: Confusion Matrix for </a:t>
            </a:r>
            <a:r>
              <a:rPr lang="en-US" sz="1600" b="1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BanglaSentNet</a:t>
            </a: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on Test Data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93962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103126" y="1366785"/>
            <a:ext cx="63269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Case Study</a:t>
            </a:r>
            <a:endParaRPr lang="en-US" sz="4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6" y="2529192"/>
            <a:ext cx="566976" cy="5669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953589" y="2663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E-commerce Data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953589" y="3154270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Applied BanglaSentNet to live product feedback (Daraz).</a:t>
            </a: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493" y="2529192"/>
            <a:ext cx="566976" cy="566976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5171956" y="2663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Actionable Insights</a:t>
            </a:r>
            <a:endParaRPr lang="en-US" sz="2400" dirty="0"/>
          </a:p>
        </p:txBody>
      </p:sp>
      <p:sp>
        <p:nvSpPr>
          <p:cNvPr id="13" name="Text 4"/>
          <p:cNvSpPr/>
          <p:nvPr/>
        </p:nvSpPr>
        <p:spPr>
          <a:xfrm>
            <a:off x="5171956" y="315427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Detected high positive sentiment on quality, but negative on pricing, leading to strategy change.</a:t>
            </a:r>
            <a:endParaRPr lang="en-U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860" y="2529192"/>
            <a:ext cx="566976" cy="566976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9390324" y="2663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Practical Value</a:t>
            </a:r>
            <a:endParaRPr lang="en-US" sz="2400" dirty="0"/>
          </a:p>
        </p:txBody>
      </p:sp>
      <p:sp>
        <p:nvSpPr>
          <p:cNvPr id="16" name="Text 6"/>
          <p:cNvSpPr/>
          <p:nvPr/>
        </p:nvSpPr>
        <p:spPr>
          <a:xfrm>
            <a:off x="9390324" y="3154270"/>
            <a:ext cx="28016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Improves consumer insight and decision-making.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7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319810" y="843396"/>
            <a:ext cx="77177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 and Future Work</a:t>
            </a:r>
            <a:endParaRPr lang="en-US" sz="4400" dirty="0"/>
          </a:p>
        </p:txBody>
      </p:sp>
      <p:sp>
        <p:nvSpPr>
          <p:cNvPr id="8" name="Text 1"/>
          <p:cNvSpPr/>
          <p:nvPr/>
        </p:nvSpPr>
        <p:spPr>
          <a:xfrm>
            <a:off x="319810" y="2119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Conclusion:</a:t>
            </a:r>
            <a:endParaRPr lang="en-US" sz="2200" dirty="0"/>
          </a:p>
        </p:txBody>
      </p:sp>
      <p:sp>
        <p:nvSpPr>
          <p:cNvPr id="9" name="Shape 2"/>
          <p:cNvSpPr/>
          <p:nvPr/>
        </p:nvSpPr>
        <p:spPr>
          <a:xfrm>
            <a:off x="319810" y="285340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3"/>
          <p:cNvSpPr/>
          <p:nvPr/>
        </p:nvSpPr>
        <p:spPr>
          <a:xfrm>
            <a:off x="659971" y="2728631"/>
            <a:ext cx="53809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BanglaSentNet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improves multi-aspect sentiment analysis for Bangla reviews.</a:t>
            </a:r>
            <a:endParaRPr lang="en-US" sz="1750" dirty="0"/>
          </a:p>
        </p:txBody>
      </p:sp>
      <p:sp>
        <p:nvSpPr>
          <p:cNvPr id="11" name="Shape 4"/>
          <p:cNvSpPr/>
          <p:nvPr/>
        </p:nvSpPr>
        <p:spPr>
          <a:xfrm>
            <a:off x="319810" y="434659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5"/>
          <p:cNvSpPr/>
          <p:nvPr/>
        </p:nvSpPr>
        <p:spPr>
          <a:xfrm>
            <a:off x="659971" y="4221815"/>
            <a:ext cx="53809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Achieved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85% accuracy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0.88 F1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on an 8,755-review dataset, outperforming baselines.</a:t>
            </a:r>
            <a:endParaRPr lang="en-US" sz="1750" dirty="0"/>
          </a:p>
        </p:txBody>
      </p:sp>
      <p:sp>
        <p:nvSpPr>
          <p:cNvPr id="13" name="Shape 6"/>
          <p:cNvSpPr/>
          <p:nvPr/>
        </p:nvSpPr>
        <p:spPr>
          <a:xfrm>
            <a:off x="319810" y="532768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659971" y="5202905"/>
            <a:ext cx="53809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Sets new state-of-the-art for low-resource Bangla SA.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6267690" y="2119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Work: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6267690" y="2853409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6607852" y="2728631"/>
            <a:ext cx="538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Optimize ensemble to reduce compute cost; explore few-shot/transfer learning.</a:t>
            </a:r>
            <a:endParaRPr lang="en-US" sz="1750" dirty="0"/>
          </a:p>
        </p:txBody>
      </p:sp>
      <p:sp>
        <p:nvSpPr>
          <p:cNvPr id="18" name="Shape 11"/>
          <p:cNvSpPr/>
          <p:nvPr/>
        </p:nvSpPr>
        <p:spPr>
          <a:xfrm>
            <a:off x="6267690" y="4032842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6607852" y="3908065"/>
            <a:ext cx="538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Address limitations (informal text, slang) and extend to more domains.</a:t>
            </a:r>
            <a:endParaRPr lang="en-US" sz="1750" dirty="0"/>
          </a:p>
        </p:txBody>
      </p:sp>
      <p:sp>
        <p:nvSpPr>
          <p:cNvPr id="20" name="Shape 4"/>
          <p:cNvSpPr/>
          <p:nvPr/>
        </p:nvSpPr>
        <p:spPr>
          <a:xfrm>
            <a:off x="319810" y="3834364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5"/>
          <p:cNvSpPr/>
          <p:nvPr/>
        </p:nvSpPr>
        <p:spPr>
          <a:xfrm>
            <a:off x="659971" y="3709587"/>
            <a:ext cx="53809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Tested on a new dataset of 8,755 Bangla reviews.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05794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356045" y="96522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8" name="Text 1"/>
          <p:cNvSpPr/>
          <p:nvPr/>
        </p:nvSpPr>
        <p:spPr>
          <a:xfrm>
            <a:off x="356045" y="666363"/>
            <a:ext cx="13042821" cy="6765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[1]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Pontiki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et al. (2015), SemEval-2015 Task 12: Aspect based sentiment analysis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[2]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Pontiki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et al. (2016), SemEval-2016 Task 5: Aspect based sentiment analysis  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</a:t>
            </a: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]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Cai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et al. (2020), Aspect-category based sentiment analysis with hierarchical graph </a:t>
            </a: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convolutional network</a:t>
            </a:r>
            <a:endParaRPr lang="en-US" sz="1900" dirty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[4]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Maroof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et al. (2024), IEEE Access: Aspect-based sentiment analysis for service industry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[5] 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Mandal et al. (2014), Supervised learning methods for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web document categorization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[6]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Dhar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et al. (2018), Performance of classifiers in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text categorization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[7] 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Hasan et al. (2017), Multi-label sentence classification using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bengali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word embedding model</a:t>
            </a:r>
          </a:p>
          <a:p>
            <a:pPr lvl="0">
              <a:lnSpc>
                <a:spcPct val="150000"/>
              </a:lnSpc>
              <a:buSzPct val="100000"/>
            </a:pP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[8]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Hoq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et al. (2021), Sentiment analysis of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language using deep learning approaches</a:t>
            </a:r>
          </a:p>
          <a:p>
            <a:pPr lvl="0">
              <a:lnSpc>
                <a:spcPct val="150000"/>
              </a:lnSpc>
              <a:buSzPct val="100000"/>
            </a:pP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[9] Islam et al. (2020), Sentiment analysis in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bengali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via transfer learning using multi-lingual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bert</a:t>
            </a:r>
            <a:endParaRPr lang="en-US" sz="1900" dirty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 lvl="0">
              <a:lnSpc>
                <a:spcPct val="150000"/>
              </a:lnSpc>
              <a:buSzPct val="100000"/>
            </a:pP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[10]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Kabir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et al. (2023),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BanglaBook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A large-scale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dataset for sentiment </a:t>
            </a:r>
            <a:r>
              <a:rPr lang="en-US" sz="19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analysis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[11]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Hoque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et al. (2024), Exploring transformer models in sentiment analysis for Bengali language</a:t>
            </a:r>
          </a:p>
          <a:p>
            <a:pPr>
              <a:lnSpc>
                <a:spcPct val="150000"/>
              </a:lnSpc>
              <a:buSzPct val="100000"/>
            </a:pP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[12] Chakma et al. (2023), Low-resource sentiment analysis leveraging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BanglaBERT</a:t>
            </a:r>
            <a:endParaRPr lang="en-US" sz="1900" dirty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[13] Mahmud et al. (2024), Enhancing sentiment analysis in </a:t>
            </a:r>
            <a:r>
              <a:rPr lang="en-US" sz="190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bengali</a:t>
            </a:r>
            <a:r>
              <a:rPr lang="en-US" sz="1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texts: A hybrid approach</a:t>
            </a:r>
          </a:p>
          <a:p>
            <a:pPr lvl="0">
              <a:lnSpc>
                <a:spcPct val="150000"/>
              </a:lnSpc>
              <a:buSzPct val="100000"/>
            </a:pPr>
            <a:endParaRPr lang="en-US" sz="1900" dirty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>
              <a:lnSpc>
                <a:spcPts val="2550"/>
              </a:lnSpc>
              <a:buSzPct val="100000"/>
            </a:pPr>
            <a:endParaRPr lang="en-US" sz="1900" dirty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05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542" y="0"/>
            <a:ext cx="4481458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mtClean="0"/>
              <a:t>ICDSAIA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31392-AA0E-4A04-962A-5C75AB0CB4F2}" type="slidenum">
              <a:rPr lang="en-US" smtClean="0">
                <a:solidFill>
                  <a:schemeClr val="bg1"/>
                </a:solidFill>
              </a:rPr>
              <a:pPr/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0"/>
          <p:cNvSpPr/>
          <p:nvPr/>
        </p:nvSpPr>
        <p:spPr>
          <a:xfrm>
            <a:off x="560327" y="16743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030303"/>
                </a:solidFill>
                <a:latin typeface="Calibri Light (Headings)"/>
                <a:ea typeface="DM Sans Semi Bold" pitchFamily="34" charset="-122"/>
                <a:cs typeface="DM Sans Semi Bold" pitchFamily="34" charset="-120"/>
              </a:rPr>
              <a:t>Thank You!</a:t>
            </a:r>
            <a:endParaRPr lang="en-US" sz="5400" dirty="0">
              <a:latin typeface="Calibri Light (Headings)"/>
            </a:endParaRPr>
          </a:p>
        </p:txBody>
      </p:sp>
      <p:sp>
        <p:nvSpPr>
          <p:cNvPr id="9" name="Text 1"/>
          <p:cNvSpPr/>
          <p:nvPr/>
        </p:nvSpPr>
        <p:spPr>
          <a:xfrm>
            <a:off x="560327" y="272328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 smtClean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Questions</a:t>
            </a:r>
            <a:r>
              <a:rPr lang="en-US" sz="2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?</a:t>
            </a:r>
            <a:endParaRPr lang="en-US" sz="2000" dirty="0"/>
          </a:p>
        </p:txBody>
      </p:sp>
      <p:sp>
        <p:nvSpPr>
          <p:cNvPr id="10" name="Text 2"/>
          <p:cNvSpPr/>
          <p:nvPr/>
        </p:nvSpPr>
        <p:spPr>
          <a:xfrm>
            <a:off x="560327" y="33413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HP Simplified Jpan" panose="020B0500000000000000" pitchFamily="34" charset="-128"/>
                <a:ea typeface="HP Simplified Jpan" panose="020B0500000000000000" pitchFamily="34" charset="-128"/>
                <a:cs typeface="Inter Medium" pitchFamily="34" charset="-120"/>
              </a:rPr>
              <a:t>Presenter: Md Rifat Hossen</a:t>
            </a:r>
            <a:endParaRPr lang="en-US" sz="2400" dirty="0">
              <a:solidFill>
                <a:srgbClr val="FF0000"/>
              </a:solidFill>
              <a:latin typeface="HP Simplified Jpan" panose="020B0500000000000000" pitchFamily="34" charset="-128"/>
              <a:ea typeface="HP Simplified Jpan" panose="020B0500000000000000" pitchFamily="34" charset="-128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60327" y="39593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Chittagong University </a:t>
            </a:r>
            <a:r>
              <a:rPr lang="en-US" sz="2200" dirty="0" smtClean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 Engineering and </a:t>
            </a:r>
            <a:r>
              <a:rPr lang="en-US" sz="2200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Technology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2" name="Text 4"/>
          <p:cNvSpPr/>
          <p:nvPr/>
        </p:nvSpPr>
        <p:spPr>
          <a:xfrm>
            <a:off x="560327" y="45774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FF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Email: rifat8851@gmail.com</a:t>
            </a:r>
            <a:endParaRPr lang="en-US" sz="2200" dirty="0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586" y="76140"/>
            <a:ext cx="1929319" cy="60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3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1513</TotalTime>
  <Words>1586</Words>
  <Application>Microsoft Office PowerPoint</Application>
  <PresentationFormat>Widescreen</PresentationFormat>
  <Paragraphs>273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HP Simplified Jpan</vt:lpstr>
      <vt:lpstr>Arial</vt:lpstr>
      <vt:lpstr>Calibri</vt:lpstr>
      <vt:lpstr>Calibri Light</vt:lpstr>
      <vt:lpstr>Calibri Light (Headings)</vt:lpstr>
      <vt:lpstr>DM Sans Semi Bold</vt:lpstr>
      <vt:lpstr>Inter Medium</vt:lpstr>
      <vt:lpstr>Office Theme</vt:lpstr>
      <vt:lpstr>BanglaSentNet: A Hybrid Deep Learning Framework for Multi-Aspect Sentiment Analysis in Bangla E-Commerce Reviews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Restoring Rhythm: Punctuation Restoration Using Transformer Models for Bangla, a Low-Resource Language</dc:title>
  <dc:creator>Rajesh Palit</dc:creator>
  <cp:lastModifiedBy>HP</cp:lastModifiedBy>
  <cp:revision>76</cp:revision>
  <dcterms:created xsi:type="dcterms:W3CDTF">2025-07-05T17:08:30Z</dcterms:created>
  <dcterms:modified xsi:type="dcterms:W3CDTF">2025-07-18T06:15:36Z</dcterms:modified>
</cp:coreProperties>
</file>